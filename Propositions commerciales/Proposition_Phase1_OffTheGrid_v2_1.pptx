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5" r:id="rId10"/>
    <p:sldId id="274" r:id="rId11"/>
    <p:sldId id="273"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557C35-40D9-44F9-96EB-B751EF2C2066}" v="8" dt="2026-05-13T08:44:27.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875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1F3C"/>
          </a:solidFill>
          <a:ln w="12700">
            <a:solidFill>
              <a:srgbClr val="0D1F3C"/>
            </a:solidFill>
            <a:prstDash val="solid"/>
          </a:ln>
        </p:spPr>
        <p:txBody>
          <a:bodyPr/>
          <a:lstStyle/>
          <a:p>
            <a:endParaRPr/>
          </a:p>
        </p:txBody>
      </p:sp>
      <p:sp>
        <p:nvSpPr>
          <p:cNvPr id="3" name="Shape 1"/>
          <p:cNvSpPr/>
          <p:nvPr/>
        </p:nvSpPr>
        <p:spPr>
          <a:xfrm>
            <a:off x="3108960" y="0"/>
            <a:ext cx="1371600" cy="5143500"/>
          </a:xfrm>
          <a:prstGeom prst="rect">
            <a:avLst/>
          </a:prstGeom>
          <a:solidFill>
            <a:srgbClr val="1565C0">
              <a:alpha val="70000"/>
            </a:srgbClr>
          </a:solidFill>
          <a:ln w="12700">
            <a:solidFill>
              <a:srgbClr val="1565C0">
                <a:alpha val="70000"/>
              </a:srgbClr>
            </a:solidFill>
            <a:prstDash val="solid"/>
          </a:ln>
        </p:spPr>
        <p:txBody>
          <a:bodyPr/>
          <a:lstStyle/>
          <a:p>
            <a:endParaRPr/>
          </a:p>
        </p:txBody>
      </p:sp>
      <p:sp>
        <p:nvSpPr>
          <p:cNvPr id="4" name="Text 2"/>
          <p:cNvSpPr/>
          <p:nvPr/>
        </p:nvSpPr>
        <p:spPr>
          <a:xfrm>
            <a:off x="274320" y="274320"/>
            <a:ext cx="548640" cy="822960"/>
          </a:xfrm>
          <a:prstGeom prst="rect">
            <a:avLst/>
          </a:prstGeom>
          <a:noFill/>
          <a:ln/>
        </p:spPr>
        <p:txBody>
          <a:bodyPr wrap="square" rtlCol="0" anchor="ctr"/>
          <a:lstStyle/>
          <a:p>
            <a:pPr marL="0" indent="0">
              <a:buNone/>
            </a:pPr>
            <a:r>
              <a:rPr lang="en-US" sz="7200" b="1" dirty="0">
                <a:solidFill>
                  <a:srgbClr val="FFFFFF"/>
                </a:solidFill>
                <a:latin typeface="Georgia" pitchFamily="34" charset="0"/>
                <a:ea typeface="Georgia" pitchFamily="34" charset="-122"/>
                <a:cs typeface="Georgia" pitchFamily="34" charset="-120"/>
              </a:rPr>
              <a:t>J</a:t>
            </a:r>
            <a:endParaRPr lang="en-US" sz="7200" dirty="0"/>
          </a:p>
        </p:txBody>
      </p:sp>
      <p:sp>
        <p:nvSpPr>
          <p:cNvPr id="5" name="Text 3"/>
          <p:cNvSpPr/>
          <p:nvPr/>
        </p:nvSpPr>
        <p:spPr>
          <a:xfrm>
            <a:off x="548640" y="502920"/>
            <a:ext cx="457200" cy="548640"/>
          </a:xfrm>
          <a:prstGeom prst="rect">
            <a:avLst/>
          </a:prstGeom>
          <a:noFill/>
          <a:ln/>
        </p:spPr>
        <p:txBody>
          <a:bodyPr wrap="square"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u</a:t>
            </a:r>
            <a:endParaRPr lang="en-US" sz="4800" dirty="0"/>
          </a:p>
        </p:txBody>
      </p:sp>
      <p:sp>
        <p:nvSpPr>
          <p:cNvPr id="6" name="Text 4"/>
          <p:cNvSpPr/>
          <p:nvPr/>
        </p:nvSpPr>
        <p:spPr>
          <a:xfrm>
            <a:off x="777240" y="411480"/>
            <a:ext cx="822960" cy="50292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MP</a:t>
            </a:r>
            <a:endParaRPr lang="en-US" sz="3800" dirty="0"/>
          </a:p>
        </p:txBody>
      </p:sp>
      <p:sp>
        <p:nvSpPr>
          <p:cNvPr id="7" name="Text 5"/>
          <p:cNvSpPr/>
          <p:nvPr/>
        </p:nvSpPr>
        <p:spPr>
          <a:xfrm>
            <a:off x="274320" y="1051560"/>
            <a:ext cx="2286000" cy="274320"/>
          </a:xfrm>
          <a:prstGeom prst="rect">
            <a:avLst/>
          </a:prstGeom>
          <a:noFill/>
          <a:ln/>
        </p:spPr>
        <p:txBody>
          <a:bodyPr wrap="square" rtlCol="0" anchor="ctr"/>
          <a:lstStyle/>
          <a:p>
            <a:pPr marL="0" indent="0">
              <a:buNone/>
            </a:pPr>
            <a:r>
              <a:rPr lang="en-US" sz="1100" dirty="0">
                <a:solidFill>
                  <a:srgbClr val="00A3E0"/>
                </a:solidFill>
                <a:latin typeface="Calibri" pitchFamily="34" charset="0"/>
                <a:ea typeface="Calibri" pitchFamily="34" charset="-122"/>
                <a:cs typeface="Calibri" pitchFamily="34" charset="-120"/>
              </a:rPr>
              <a:t>Junior-Entreprise</a:t>
            </a:r>
            <a:endParaRPr lang="en-US" sz="1100" dirty="0"/>
          </a:p>
        </p:txBody>
      </p:sp>
      <p:sp>
        <p:nvSpPr>
          <p:cNvPr id="8" name="Text 6"/>
          <p:cNvSpPr/>
          <p:nvPr/>
        </p:nvSpPr>
        <p:spPr>
          <a:xfrm>
            <a:off x="274320" y="1417320"/>
            <a:ext cx="25603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MINES PARIS  |  PSL</a:t>
            </a:r>
            <a:endParaRPr lang="en-US" sz="1000" dirty="0"/>
          </a:p>
        </p:txBody>
      </p:sp>
      <p:sp>
        <p:nvSpPr>
          <p:cNvPr id="9" name="Text 7"/>
          <p:cNvSpPr/>
          <p:nvPr/>
        </p:nvSpPr>
        <p:spPr>
          <a:xfrm>
            <a:off x="3931920" y="1463040"/>
            <a:ext cx="5029200" cy="64008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Proposition d'Intervention</a:t>
            </a:r>
            <a:endParaRPr lang="en-US" sz="2800" dirty="0"/>
          </a:p>
        </p:txBody>
      </p:sp>
      <p:sp>
        <p:nvSpPr>
          <p:cNvPr id="10" name="Text 8"/>
          <p:cNvSpPr/>
          <p:nvPr/>
        </p:nvSpPr>
        <p:spPr>
          <a:xfrm>
            <a:off x="3931920" y="2148840"/>
            <a:ext cx="5029200" cy="100584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Application Smartphone</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de Pilotage à Distance</a:t>
            </a:r>
            <a:endParaRPr lang="en-US" sz="3000" dirty="0"/>
          </a:p>
        </p:txBody>
      </p:sp>
      <p:sp>
        <p:nvSpPr>
          <p:cNvPr id="11" name="Text 9"/>
          <p:cNvSpPr/>
          <p:nvPr/>
        </p:nvSpPr>
        <p:spPr>
          <a:xfrm>
            <a:off x="3931920" y="3200400"/>
            <a:ext cx="5029200" cy="640080"/>
          </a:xfrm>
          <a:prstGeom prst="rect">
            <a:avLst/>
          </a:prstGeom>
          <a:noFill/>
          <a:ln/>
        </p:spPr>
        <p:txBody>
          <a:bodyPr wrap="square" rtlCol="0" anchor="ctr"/>
          <a:lstStyle/>
          <a:p>
            <a:pPr marL="0" indent="0" algn="ctr">
              <a:buNone/>
            </a:pPr>
            <a:r>
              <a:rPr lang="en-US" sz="3400" b="1" dirty="0">
                <a:solidFill>
                  <a:srgbClr val="00A3E0"/>
                </a:solidFill>
                <a:latin typeface="Calibri" pitchFamily="34" charset="0"/>
                <a:ea typeface="Calibri" pitchFamily="34" charset="-122"/>
                <a:cs typeface="Calibri" pitchFamily="34" charset="-120"/>
              </a:rPr>
              <a:t>Off-the-Grid</a:t>
            </a:r>
            <a:endParaRPr lang="en-US" sz="3400" dirty="0"/>
          </a:p>
        </p:txBody>
      </p:sp>
      <p:sp>
        <p:nvSpPr>
          <p:cNvPr id="12" name="Text 10"/>
          <p:cNvSpPr/>
          <p:nvPr/>
        </p:nvSpPr>
        <p:spPr>
          <a:xfrm>
            <a:off x="274320" y="4114800"/>
            <a:ext cx="2286000" cy="228600"/>
          </a:xfrm>
          <a:prstGeom prst="rect">
            <a:avLst/>
          </a:prstGeom>
          <a:noFill/>
          <a:ln/>
        </p:spPr>
        <p:txBody>
          <a:bodyPr wrap="square" rtlCol="0" anchor="ctr"/>
          <a:lstStyle/>
          <a:p>
            <a:pPr marL="0" indent="0">
              <a:buNone/>
            </a:pPr>
            <a:r>
              <a:rPr lang="en-US" sz="1000" dirty="0">
                <a:solidFill>
                  <a:srgbClr val="FFFFFF"/>
                </a:solidFill>
              </a:rPr>
              <a:t>Confidentiel</a:t>
            </a:r>
            <a:endParaRPr lang="en-US" sz="1000" dirty="0"/>
          </a:p>
        </p:txBody>
      </p:sp>
      <p:sp>
        <p:nvSpPr>
          <p:cNvPr id="13" name="Text 11"/>
          <p:cNvSpPr/>
          <p:nvPr/>
        </p:nvSpPr>
        <p:spPr>
          <a:xfrm>
            <a:off x="274320" y="4343400"/>
            <a:ext cx="2286000" cy="228600"/>
          </a:xfrm>
          <a:prstGeom prst="rect">
            <a:avLst/>
          </a:prstGeom>
          <a:noFill/>
          <a:ln/>
        </p:spPr>
        <p:txBody>
          <a:bodyPr wrap="square" rtlCol="0" anchor="ctr"/>
          <a:lstStyle/>
          <a:p>
            <a:pPr marL="0" indent="0">
              <a:buNone/>
            </a:pPr>
            <a:r>
              <a:rPr lang="en-US" sz="1000" dirty="0">
                <a:solidFill>
                  <a:srgbClr val="FFFFFF"/>
                </a:solidFill>
              </a:rPr>
              <a:t>Valable jusqu'au 31/07/2026</a:t>
            </a:r>
            <a:endParaRPr lang="en-US" sz="1000" dirty="0"/>
          </a:p>
        </p:txBody>
      </p:sp>
      <p:sp>
        <p:nvSpPr>
          <p:cNvPr id="14" name="Text 12"/>
          <p:cNvSpPr/>
          <p:nvPr/>
        </p:nvSpPr>
        <p:spPr>
          <a:xfrm>
            <a:off x="274320" y="4572000"/>
            <a:ext cx="2286000" cy="228600"/>
          </a:xfrm>
          <a:prstGeom prst="rect">
            <a:avLst/>
          </a:prstGeom>
          <a:noFill/>
          <a:ln/>
        </p:spPr>
        <p:txBody>
          <a:bodyPr wrap="square" rtlCol="0" anchor="ctr"/>
          <a:lstStyle/>
          <a:p>
            <a:pPr marL="0" indent="0">
              <a:buNone/>
            </a:pPr>
            <a:r>
              <a:rPr lang="en-US" sz="1000" dirty="0">
                <a:solidFill>
                  <a:srgbClr val="FFFFFF"/>
                </a:solidFill>
              </a:rPr>
              <a:t>À l'attention de François</a:t>
            </a:r>
            <a:endParaRPr lang="en-US" sz="1000" dirty="0"/>
          </a:p>
        </p:txBody>
      </p:sp>
      <p:sp>
        <p:nvSpPr>
          <p:cNvPr id="15" name="Text 13"/>
          <p:cNvSpPr/>
          <p:nvPr/>
        </p:nvSpPr>
        <p:spPr>
          <a:xfrm>
            <a:off x="5029200" y="4114800"/>
            <a:ext cx="3840480" cy="82296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Site web</a:t>
            </a:r>
            <a:r>
              <a:rPr lang="en-US" sz="1000" dirty="0">
                <a:solidFill>
                  <a:srgbClr val="FFFFFF"/>
                </a:solidFill>
                <a:latin typeface="Calibri" pitchFamily="34" charset="0"/>
                <a:ea typeface="Calibri" pitchFamily="34" charset="-122"/>
                <a:cs typeface="Calibri" pitchFamily="34" charset="-120"/>
              </a:rPr>
              <a:t> : www.jump-mines.fr
</a:t>
            </a:r>
            <a:r>
              <a:rPr lang="en-US" sz="1000" b="1" dirty="0">
                <a:solidFill>
                  <a:srgbClr val="FFFFFF"/>
                </a:solidFill>
                <a:latin typeface="Calibri" pitchFamily="34" charset="0"/>
                <a:ea typeface="Calibri" pitchFamily="34" charset="-122"/>
                <a:cs typeface="Calibri" pitchFamily="34" charset="-120"/>
              </a:rPr>
              <a:t>Mail</a:t>
            </a:r>
            <a:r>
              <a:rPr lang="en-US" sz="1000" dirty="0">
                <a:solidFill>
                  <a:srgbClr val="FFFFFF"/>
                </a:solidFill>
                <a:latin typeface="Calibri" pitchFamily="34" charset="0"/>
                <a:ea typeface="Calibri" pitchFamily="34" charset="-122"/>
                <a:cs typeface="Calibri" pitchFamily="34" charset="-120"/>
              </a:rPr>
              <a:t> : contact@jump-mines.fr
</a:t>
            </a:r>
            <a:r>
              <a:rPr lang="en-US" sz="1000" b="1" dirty="0">
                <a:solidFill>
                  <a:srgbClr val="FFFFFF"/>
                </a:solidFill>
                <a:latin typeface="Calibri" pitchFamily="34" charset="0"/>
                <a:ea typeface="Calibri" pitchFamily="34" charset="-122"/>
                <a:cs typeface="Calibri" pitchFamily="34" charset="-120"/>
              </a:rPr>
              <a:t>Adresse</a:t>
            </a:r>
            <a:r>
              <a:rPr lang="en-US" sz="1000" dirty="0">
                <a:solidFill>
                  <a:srgbClr val="FFFFFF"/>
                </a:solidFill>
                <a:latin typeface="Calibri" pitchFamily="34" charset="0"/>
                <a:ea typeface="Calibri" pitchFamily="34" charset="-122"/>
                <a:cs typeface="Calibri" pitchFamily="34" charset="-120"/>
              </a:rPr>
              <a:t> : 60 Boulevard Saint-Michel, 75006 Paris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82880"/>
            <a:ext cx="4114800" cy="548640"/>
          </a:xfrm>
          <a:prstGeom prst="rect">
            <a:avLst/>
          </a:prstGeom>
          <a:noFill/>
          <a:ln/>
        </p:spPr>
        <p:txBody>
          <a:bodyPr wrap="square" rtlCol="0" anchor="ctr"/>
          <a:lstStyle/>
          <a:p>
            <a:pPr marL="0" indent="0">
              <a:buNone/>
            </a:pPr>
            <a:r>
              <a:rPr lang="en-US" sz="3000" dirty="0">
                <a:solidFill>
                  <a:srgbClr val="FFFFFF"/>
                </a:solidFill>
                <a:latin typeface="Calibri" pitchFamily="34" charset="0"/>
                <a:ea typeface="Calibri" pitchFamily="34" charset="-122"/>
                <a:cs typeface="Calibri" pitchFamily="34" charset="-120"/>
              </a:rPr>
              <a:t>Qui sommes-nous ?</a:t>
            </a:r>
            <a:endParaRPr lang="en-US" sz="3000" dirty="0"/>
          </a:p>
        </p:txBody>
      </p:sp>
      <p:sp>
        <p:nvSpPr>
          <p:cNvPr id="3" name="Text 1"/>
          <p:cNvSpPr/>
          <p:nvPr/>
        </p:nvSpPr>
        <p:spPr>
          <a:xfrm>
            <a:off x="365760" y="777240"/>
            <a:ext cx="4114800" cy="1463040"/>
          </a:xfrm>
          <a:prstGeom prst="rect">
            <a:avLst/>
          </a:prstGeom>
          <a:noFill/>
          <a:ln/>
        </p:spPr>
        <p:txBody>
          <a:bodyPr wrap="square" rtlCol="0" anchor="ctr"/>
          <a:lstStyle/>
          <a:p>
            <a:pPr marL="0" indent="0" algn="just">
              <a:buNone/>
            </a:pPr>
            <a:r>
              <a:rPr lang="en-US" sz="1200" dirty="0">
                <a:solidFill>
                  <a:srgbClr val="FFFFFF"/>
                </a:solidFill>
                <a:latin typeface="Calibri" pitchFamily="34" charset="0"/>
                <a:ea typeface="Calibri" pitchFamily="34" charset="-122"/>
                <a:cs typeface="Calibri" pitchFamily="34" charset="-120"/>
              </a:rPr>
              <a:t>JuMP, Junior-Entreprise de l'École des Mines de Paris, est une association loi 1901 qui fonctionne de la même façon qu'une entreprise prestataire de services. Elle est entièrement gérée par des étudiants de l'École des Mines de Paris, et a pour vocation de faire réaliser aux élèves de l'École des missions qui leur permettront de mettre en application les connaissances acquises au cours de leur scolarité.</a:t>
            </a:r>
            <a:endParaRPr lang="en-US" sz="1200" dirty="0"/>
          </a:p>
        </p:txBody>
      </p:sp>
      <p:sp>
        <p:nvSpPr>
          <p:cNvPr id="4" name="Text 2"/>
          <p:cNvSpPr/>
          <p:nvPr/>
        </p:nvSpPr>
        <p:spPr>
          <a:xfrm>
            <a:off x="365760" y="2331720"/>
            <a:ext cx="41148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17 spécialisations, 3 domaines de compétence</a:t>
            </a:r>
            <a:endParaRPr lang="en-US" sz="1300" dirty="0"/>
          </a:p>
        </p:txBody>
      </p:sp>
      <p:sp>
        <p:nvSpPr>
          <p:cNvPr id="5" name="Shape 3"/>
          <p:cNvSpPr/>
          <p:nvPr/>
        </p:nvSpPr>
        <p:spPr>
          <a:xfrm>
            <a:off x="365760" y="2697480"/>
            <a:ext cx="1325880" cy="822960"/>
          </a:xfrm>
          <a:prstGeom prst="rect">
            <a:avLst/>
          </a:prstGeom>
          <a:solidFill>
            <a:srgbClr val="1565C0"/>
          </a:solidFill>
          <a:ln w="12700">
            <a:solidFill>
              <a:srgbClr val="1565C0"/>
            </a:solidFill>
            <a:prstDash val="solid"/>
          </a:ln>
        </p:spPr>
        <p:txBody>
          <a:bodyPr/>
          <a:lstStyle/>
          <a:p>
            <a:endParaRPr/>
          </a:p>
        </p:txBody>
      </p:sp>
      <p:sp>
        <p:nvSpPr>
          <p:cNvPr id="6" name="Text 4"/>
          <p:cNvSpPr/>
          <p:nvPr/>
        </p:nvSpPr>
        <p:spPr>
          <a:xfrm>
            <a:off x="36576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Ingénierie</a:t>
            </a:r>
            <a:endParaRPr lang="en-US" sz="1300" dirty="0"/>
          </a:p>
        </p:txBody>
      </p:sp>
      <p:sp>
        <p:nvSpPr>
          <p:cNvPr id="7" name="Shape 5"/>
          <p:cNvSpPr/>
          <p:nvPr/>
        </p:nvSpPr>
        <p:spPr>
          <a:xfrm>
            <a:off x="1783080" y="2697480"/>
            <a:ext cx="1325880" cy="822960"/>
          </a:xfrm>
          <a:prstGeom prst="rect">
            <a:avLst/>
          </a:prstGeom>
          <a:solidFill>
            <a:srgbClr val="1565C0"/>
          </a:solidFill>
          <a:ln w="12700">
            <a:solidFill>
              <a:srgbClr val="1565C0"/>
            </a:solidFill>
            <a:prstDash val="solid"/>
          </a:ln>
        </p:spPr>
        <p:txBody>
          <a:bodyPr/>
          <a:lstStyle/>
          <a:p>
            <a:endParaRPr/>
          </a:p>
        </p:txBody>
      </p:sp>
      <p:sp>
        <p:nvSpPr>
          <p:cNvPr id="8" name="Text 6"/>
          <p:cNvSpPr/>
          <p:nvPr/>
        </p:nvSpPr>
        <p:spPr>
          <a:xfrm>
            <a:off x="178308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Stratégie</a:t>
            </a:r>
            <a:endParaRPr lang="en-US" sz="1300" dirty="0"/>
          </a:p>
        </p:txBody>
      </p:sp>
      <p:sp>
        <p:nvSpPr>
          <p:cNvPr id="9" name="Shape 7"/>
          <p:cNvSpPr/>
          <p:nvPr/>
        </p:nvSpPr>
        <p:spPr>
          <a:xfrm>
            <a:off x="3200400" y="2697480"/>
            <a:ext cx="1325880" cy="822960"/>
          </a:xfrm>
          <a:prstGeom prst="rect">
            <a:avLst/>
          </a:prstGeom>
          <a:solidFill>
            <a:srgbClr val="1565C0"/>
          </a:solidFill>
          <a:ln w="12700">
            <a:solidFill>
              <a:srgbClr val="1565C0"/>
            </a:solidFill>
            <a:prstDash val="solid"/>
          </a:ln>
        </p:spPr>
        <p:txBody>
          <a:bodyPr/>
          <a:lstStyle/>
          <a:p>
            <a:endParaRPr/>
          </a:p>
        </p:txBody>
      </p:sp>
      <p:sp>
        <p:nvSpPr>
          <p:cNvPr id="10" name="Text 8"/>
          <p:cNvSpPr/>
          <p:nvPr/>
        </p:nvSpPr>
        <p:spPr>
          <a:xfrm>
            <a:off x="3200400" y="2697480"/>
            <a:ext cx="1325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Informatique</a:t>
            </a:r>
            <a:endParaRPr lang="en-US" sz="1300" dirty="0"/>
          </a:p>
        </p:txBody>
      </p:sp>
      <p:sp>
        <p:nvSpPr>
          <p:cNvPr id="11" name="Text 9"/>
          <p:cNvSpPr/>
          <p:nvPr/>
        </p:nvSpPr>
        <p:spPr>
          <a:xfrm>
            <a:off x="4754880" y="182880"/>
            <a:ext cx="4114800" cy="502920"/>
          </a:xfrm>
          <a:prstGeom prst="rect">
            <a:avLst/>
          </a:prstGeom>
          <a:noFill/>
          <a:ln/>
        </p:spPr>
        <p:txBody>
          <a:bodyPr wrap="square" rtlCol="0" anchor="ctr"/>
          <a:lstStyle/>
          <a:p>
            <a:pPr marL="0" indent="0">
              <a:buNone/>
            </a:pPr>
            <a:r>
              <a:rPr lang="en-US" sz="2800" dirty="0">
                <a:solidFill>
                  <a:srgbClr val="FFFFFF"/>
                </a:solidFill>
                <a:latin typeface="Calibri" pitchFamily="34" charset="0"/>
                <a:ea typeface="Calibri" pitchFamily="34" charset="-122"/>
                <a:cs typeface="Calibri" pitchFamily="34" charset="-120"/>
              </a:rPr>
              <a:t>JuMP en quelques chiffres</a:t>
            </a:r>
            <a:endParaRPr lang="en-US" sz="2800" dirty="0"/>
          </a:p>
        </p:txBody>
      </p:sp>
      <p:sp>
        <p:nvSpPr>
          <p:cNvPr id="12" name="Shape 10"/>
          <p:cNvSpPr/>
          <p:nvPr/>
        </p:nvSpPr>
        <p:spPr>
          <a:xfrm>
            <a:off x="5166360" y="885476"/>
            <a:ext cx="1280160" cy="1280160"/>
          </a:xfrm>
          <a:prstGeom prst="ellipse">
            <a:avLst/>
          </a:prstGeom>
          <a:solidFill>
            <a:srgbClr val="0D1F3C"/>
          </a:solidFill>
          <a:ln w="25400">
            <a:solidFill>
              <a:srgbClr val="00A3E0"/>
            </a:solidFill>
            <a:prstDash val="solid"/>
          </a:ln>
        </p:spPr>
        <p:txBody>
          <a:bodyPr/>
          <a:lstStyle/>
          <a:p>
            <a:endParaRPr/>
          </a:p>
        </p:txBody>
      </p:sp>
      <p:sp>
        <p:nvSpPr>
          <p:cNvPr id="13" name="Text 11"/>
          <p:cNvSpPr/>
          <p:nvPr/>
        </p:nvSpPr>
        <p:spPr>
          <a:xfrm>
            <a:off x="5166360" y="1114076"/>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1ère</a:t>
            </a:r>
            <a:endParaRPr lang="en-US" sz="1800" dirty="0"/>
          </a:p>
        </p:txBody>
      </p:sp>
      <p:sp>
        <p:nvSpPr>
          <p:cNvPr id="14" name="Text 12"/>
          <p:cNvSpPr/>
          <p:nvPr/>
        </p:nvSpPr>
        <p:spPr>
          <a:xfrm>
            <a:off x="5166360" y="1479836"/>
            <a:ext cx="128016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excellence académique</a:t>
            </a:r>
            <a:endParaRPr lang="en-US" sz="1100" dirty="0"/>
          </a:p>
        </p:txBody>
      </p:sp>
      <p:sp>
        <p:nvSpPr>
          <p:cNvPr id="15" name="Shape 13"/>
          <p:cNvSpPr/>
          <p:nvPr/>
        </p:nvSpPr>
        <p:spPr>
          <a:xfrm>
            <a:off x="7132320" y="868680"/>
            <a:ext cx="1280160" cy="1280160"/>
          </a:xfrm>
          <a:prstGeom prst="ellipse">
            <a:avLst/>
          </a:prstGeom>
          <a:solidFill>
            <a:srgbClr val="0D1F3C"/>
          </a:solidFill>
          <a:ln w="25400">
            <a:solidFill>
              <a:srgbClr val="00A3E0"/>
            </a:solidFill>
            <a:prstDash val="solid"/>
          </a:ln>
        </p:spPr>
        <p:txBody>
          <a:bodyPr/>
          <a:lstStyle/>
          <a:p>
            <a:endParaRPr/>
          </a:p>
        </p:txBody>
      </p:sp>
      <p:sp>
        <p:nvSpPr>
          <p:cNvPr id="16" name="Text 14"/>
          <p:cNvSpPr/>
          <p:nvPr/>
        </p:nvSpPr>
        <p:spPr>
          <a:xfrm>
            <a:off x="7132320" y="1051560"/>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18</a:t>
            </a:r>
            <a:endParaRPr lang="en-US" sz="1800" dirty="0"/>
          </a:p>
        </p:txBody>
      </p:sp>
      <p:sp>
        <p:nvSpPr>
          <p:cNvPr id="17" name="Text 15"/>
          <p:cNvSpPr/>
          <p:nvPr/>
        </p:nvSpPr>
        <p:spPr>
          <a:xfrm>
            <a:off x="7132320" y="1440180"/>
            <a:ext cx="128016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centres de recherche</a:t>
            </a:r>
            <a:endParaRPr lang="en-US" sz="1100" dirty="0"/>
          </a:p>
        </p:txBody>
      </p:sp>
      <p:sp>
        <p:nvSpPr>
          <p:cNvPr id="18" name="Shape 16"/>
          <p:cNvSpPr/>
          <p:nvPr/>
        </p:nvSpPr>
        <p:spPr>
          <a:xfrm>
            <a:off x="6197492" y="2331720"/>
            <a:ext cx="1280160" cy="1280160"/>
          </a:xfrm>
          <a:prstGeom prst="ellipse">
            <a:avLst/>
          </a:prstGeom>
          <a:solidFill>
            <a:srgbClr val="0D1F3C"/>
          </a:solidFill>
          <a:ln w="25400">
            <a:solidFill>
              <a:srgbClr val="00A3E0"/>
            </a:solidFill>
            <a:prstDash val="solid"/>
          </a:ln>
        </p:spPr>
        <p:txBody>
          <a:bodyPr/>
          <a:lstStyle/>
          <a:p>
            <a:endParaRPr/>
          </a:p>
        </p:txBody>
      </p:sp>
      <p:sp>
        <p:nvSpPr>
          <p:cNvPr id="19" name="Text 17"/>
          <p:cNvSpPr/>
          <p:nvPr/>
        </p:nvSpPr>
        <p:spPr>
          <a:xfrm>
            <a:off x="6197492" y="2606040"/>
            <a:ext cx="128016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40 ans</a:t>
            </a:r>
            <a:endParaRPr lang="en-US" sz="1800" dirty="0"/>
          </a:p>
        </p:txBody>
      </p:sp>
      <p:sp>
        <p:nvSpPr>
          <p:cNvPr id="20" name="Text 18"/>
          <p:cNvSpPr/>
          <p:nvPr/>
        </p:nvSpPr>
        <p:spPr>
          <a:xfrm>
            <a:off x="6014612" y="2907792"/>
            <a:ext cx="164592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d'expérience</a:t>
            </a:r>
            <a:endParaRPr lang="en-US" sz="1100" dirty="0"/>
          </a:p>
        </p:txBody>
      </p:sp>
      <p:sp>
        <p:nvSpPr>
          <p:cNvPr id="21" name="Text 19"/>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22" name="Text 20"/>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23" name="Text 21"/>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24" name="Text 22"/>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25" name="Text 23"/>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2/11</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0292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Votre projet : Off-the-Grid</a:t>
            </a:r>
            <a:endParaRPr lang="en-US" sz="2000" dirty="0"/>
          </a:p>
        </p:txBody>
      </p:sp>
      <p:sp>
        <p:nvSpPr>
          <p:cNvPr id="3" name="Text 1"/>
          <p:cNvSpPr/>
          <p:nvPr/>
        </p:nvSpPr>
        <p:spPr>
          <a:xfrm>
            <a:off x="365760" y="777240"/>
            <a:ext cx="8412480" cy="1005840"/>
          </a:xfrm>
          <a:prstGeom prst="rect">
            <a:avLst/>
          </a:prstGeom>
          <a:noFill/>
          <a:ln/>
        </p:spPr>
        <p:txBody>
          <a:bodyPr wrap="square" rtlCol="0" anchor="ctr"/>
          <a:lstStyle/>
          <a:p>
            <a:pPr marL="0" indent="0" algn="just">
              <a:buNone/>
            </a:pPr>
            <a:r>
              <a:rPr lang="en-US" sz="1300" dirty="0">
                <a:solidFill>
                  <a:srgbClr val="FFFFFF"/>
                </a:solidFill>
                <a:latin typeface="Calibri" pitchFamily="34" charset="0"/>
                <a:ea typeface="Calibri" pitchFamily="34" charset="-122"/>
                <a:cs typeface="Calibri" pitchFamily="34" charset="-120"/>
              </a:rPr>
              <a:t>François, diplômé de l'École des Mines de Paris (P80), a équipé sa maison à Montchauvel en panneaux solaires photovoltaïques, thermiques, batteries et une quarantaine de capteurs. Depuis dix ans, il vit pratiquement hors réseau grâce à un EMS (Energy Management System) piloté par un automate WAGO 750-8217.</a:t>
            </a:r>
            <a:endParaRPr lang="en-US" sz="1300" dirty="0"/>
          </a:p>
        </p:txBody>
      </p:sp>
      <p:sp>
        <p:nvSpPr>
          <p:cNvPr id="4" name="Text 2"/>
          <p:cNvSpPr/>
          <p:nvPr/>
        </p:nvSpPr>
        <p:spPr>
          <a:xfrm>
            <a:off x="365760" y="1920240"/>
            <a:ext cx="841248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Votre besoin :</a:t>
            </a:r>
            <a:endParaRPr lang="en-US" sz="1600" dirty="0"/>
          </a:p>
        </p:txBody>
      </p:sp>
      <p:sp>
        <p:nvSpPr>
          <p:cNvPr id="5" name="Text 3"/>
          <p:cNvSpPr/>
          <p:nvPr/>
        </p:nvSpPr>
        <p:spPr>
          <a:xfrm>
            <a:off x="365760" y="2240280"/>
            <a:ext cx="8412480" cy="777240"/>
          </a:xfrm>
          <a:prstGeom prst="rect">
            <a:avLst/>
          </a:prstGeom>
          <a:noFill/>
          <a:ln/>
        </p:spPr>
        <p:txBody>
          <a:bodyPr wrap="square" rtlCol="0" anchor="ctr"/>
          <a:lstStyle/>
          <a:p>
            <a:pPr marL="0" indent="0" algn="just">
              <a:buNone/>
            </a:pPr>
            <a:r>
              <a:rPr lang="en-US" sz="1300" dirty="0">
                <a:solidFill>
                  <a:srgbClr val="FFFFFF"/>
                </a:solidFill>
                <a:latin typeface="Calibri" pitchFamily="34" charset="0"/>
                <a:ea typeface="Calibri" pitchFamily="34" charset="-122"/>
                <a:cs typeface="Calibri" pitchFamily="34" charset="-120"/>
              </a:rPr>
              <a:t>Piloter à distance des paramètres prédéfinis de l'automate depuis un smartphone, via le tunnel OpenVPN existant, sans recompiler ni recharger Codesys — en s'appuyant sur sa visualisation native (WebVisu), sans fichier intermédiaire.</a:t>
            </a:r>
            <a:endParaRPr lang="en-US" sz="1300" dirty="0"/>
          </a:p>
        </p:txBody>
      </p:sp>
      <p:sp>
        <p:nvSpPr>
          <p:cNvPr id="6" name="Text 4"/>
          <p:cNvSpPr/>
          <p:nvPr/>
        </p:nvSpPr>
        <p:spPr>
          <a:xfrm>
            <a:off x="365760" y="3108960"/>
            <a:ext cx="841248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Livrables :</a:t>
            </a:r>
            <a:endParaRPr lang="en-US" sz="1600" dirty="0"/>
          </a:p>
        </p:txBody>
      </p:sp>
      <p:sp>
        <p:nvSpPr>
          <p:cNvPr id="7" name="Text 5"/>
          <p:cNvSpPr/>
          <p:nvPr/>
        </p:nvSpPr>
        <p:spPr>
          <a:xfrm>
            <a:off x="365760" y="3456432"/>
            <a:ext cx="8412480" cy="8229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Application smartphone (ou Web App) de pilotage à distance, sécurisée et ergonomique</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Documentation technique et guide d'utilisation pour François</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Prototype fonctionnel validant la mise à jour dynamique des paramètres de l'automate</a:t>
            </a:r>
            <a:endParaRPr lang="en-US" sz="1300" dirty="0"/>
          </a:p>
        </p:txBody>
      </p:sp>
      <p:sp>
        <p:nvSpPr>
          <p:cNvPr id="8" name="Text 6"/>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9" name="Text 7"/>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10" name="Text 8"/>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11" name="Text 9"/>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2" name="Text 10"/>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3/11</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Gestion du projet</a:t>
            </a:r>
            <a:endParaRPr lang="en-US" sz="2200" dirty="0"/>
          </a:p>
        </p:txBody>
      </p:sp>
      <p:sp>
        <p:nvSpPr>
          <p:cNvPr id="3" name="Text 1"/>
          <p:cNvSpPr/>
          <p:nvPr/>
        </p:nvSpPr>
        <p:spPr>
          <a:xfrm>
            <a:off x="365760" y="54864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Des points d'échanges réguliers seront organisés entre l'intervenant et François, afin de valider les étapes du projet ou d'effectuer des ajustements si nécessaire. Les livrables seront transmis au fur et à mesure de l'étude, en respectant l'agenda fourni en début de mission.</a:t>
            </a:r>
            <a:endParaRPr lang="en-US" sz="1250" dirty="0"/>
          </a:p>
        </p:txBody>
      </p:sp>
      <p:sp>
        <p:nvSpPr>
          <p:cNvPr id="4" name="Text 2"/>
          <p:cNvSpPr/>
          <p:nvPr/>
        </p:nvSpPr>
        <p:spPr>
          <a:xfrm>
            <a:off x="365760" y="164592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Intervenant</a:t>
            </a:r>
            <a:endParaRPr lang="en-US" sz="2200" dirty="0"/>
          </a:p>
        </p:txBody>
      </p:sp>
      <p:sp>
        <p:nvSpPr>
          <p:cNvPr id="5" name="Text 3"/>
          <p:cNvSpPr/>
          <p:nvPr/>
        </p:nvSpPr>
        <p:spPr>
          <a:xfrm>
            <a:off x="365760" y="205740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Afin de répondre à votre besoin, la Junior-Entreprise de l'École des Mines de Paris a sélectionné un élève des Mines, actuellement en césure, disposant des compétences techniques requises en développement logiciel embarqué et en gestion de projets IoT.</a:t>
            </a:r>
            <a:endParaRPr lang="en-US" sz="1250" dirty="0"/>
          </a:p>
        </p:txBody>
      </p:sp>
      <p:sp>
        <p:nvSpPr>
          <p:cNvPr id="6" name="Text 4"/>
          <p:cNvSpPr/>
          <p:nvPr/>
        </p:nvSpPr>
        <p:spPr>
          <a:xfrm>
            <a:off x="365760" y="3154680"/>
            <a:ext cx="8412480" cy="4114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Confidentialité</a:t>
            </a:r>
            <a:endParaRPr lang="en-US" sz="2200" dirty="0"/>
          </a:p>
        </p:txBody>
      </p:sp>
      <p:sp>
        <p:nvSpPr>
          <p:cNvPr id="7" name="Text 5"/>
          <p:cNvSpPr/>
          <p:nvPr/>
        </p:nvSpPr>
        <p:spPr>
          <a:xfrm>
            <a:off x="365760" y="3566160"/>
            <a:ext cx="8412480" cy="1005840"/>
          </a:xfrm>
          <a:prstGeom prst="rect">
            <a:avLst/>
          </a:prstGeom>
          <a:noFill/>
          <a:ln/>
        </p:spPr>
        <p:txBody>
          <a:bodyPr wrap="square" rtlCol="0" anchor="ctr"/>
          <a:lstStyle/>
          <a:p>
            <a:pPr marL="0" indent="0" algn="just">
              <a:buNone/>
            </a:pPr>
            <a:r>
              <a:rPr lang="en-US" sz="1250" dirty="0">
                <a:solidFill>
                  <a:srgbClr val="FFFFFF"/>
                </a:solidFill>
                <a:latin typeface="Calibri" pitchFamily="34" charset="0"/>
                <a:ea typeface="Calibri" pitchFamily="34" charset="-122"/>
                <a:cs typeface="Calibri" pitchFamily="34" charset="-120"/>
              </a:rPr>
              <a:t>JuMP sera tenue au secret le plus absolu et s'engage à ne communiquer à des tiers aucune indication sur les travaux et études effectués. JuMP se réserve néanmoins le droit d'utiliser séparément une description générique de l'étude à titre de référence.</a:t>
            </a:r>
            <a:endParaRPr lang="en-US" sz="1250" dirty="0"/>
          </a:p>
        </p:txBody>
      </p:sp>
      <p:sp>
        <p:nvSpPr>
          <p:cNvPr id="8" name="Text 6"/>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9" name="Text 7"/>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10" name="Text 8"/>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11" name="Text 9"/>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2" name="Text 10"/>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4/11</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1920240"/>
          </a:xfrm>
          <a:prstGeom prst="rect">
            <a:avLst/>
          </a:prstGeom>
          <a:solidFill>
            <a:srgbClr val="1565C0"/>
          </a:solidFill>
          <a:ln w="12700">
            <a:solidFill>
              <a:srgbClr val="1565C0"/>
            </a:solidFill>
            <a:prstDash val="solid"/>
          </a:ln>
        </p:spPr>
        <p:txBody>
          <a:bodyPr/>
          <a:lstStyle/>
          <a:p>
            <a:endParaRPr/>
          </a:p>
        </p:txBody>
      </p:sp>
      <p:sp>
        <p:nvSpPr>
          <p:cNvPr id="3" name="Text 1"/>
          <p:cNvSpPr/>
          <p:nvPr/>
        </p:nvSpPr>
        <p:spPr>
          <a:xfrm>
            <a:off x="457200" y="1737360"/>
            <a:ext cx="8229600" cy="45720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Partie 1</a:t>
            </a:r>
            <a:endParaRPr lang="en-US" sz="2000" dirty="0"/>
          </a:p>
        </p:txBody>
      </p:sp>
      <p:sp>
        <p:nvSpPr>
          <p:cNvPr id="4" name="Text 2"/>
          <p:cNvSpPr/>
          <p:nvPr/>
        </p:nvSpPr>
        <p:spPr>
          <a:xfrm>
            <a:off x="457200" y="2194560"/>
            <a:ext cx="8229600" cy="82296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Application Smartphone</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de Pilotage à Distance</a:t>
            </a:r>
            <a:endParaRPr lang="en-US" sz="3000" dirty="0"/>
          </a:p>
        </p:txBody>
      </p:sp>
      <p:sp>
        <p:nvSpPr>
          <p:cNvPr id="5" name="Text 3"/>
          <p:cNvSpPr/>
          <p:nvPr/>
        </p:nvSpPr>
        <p:spPr>
          <a:xfrm>
            <a:off x="457200" y="3063240"/>
            <a:ext cx="8229600" cy="457200"/>
          </a:xfrm>
          <a:prstGeom prst="rect">
            <a:avLst/>
          </a:prstGeom>
          <a:noFill/>
          <a:ln/>
        </p:spPr>
        <p:txBody>
          <a:bodyPr wrap="square" rtlCol="0" anchor="ctr"/>
          <a:lstStyle/>
          <a:p>
            <a:pPr marL="0" indent="0" algn="ctr">
              <a:buNone/>
            </a:pPr>
            <a:r>
              <a:rPr lang="en-US" sz="2200" dirty="0">
                <a:solidFill>
                  <a:srgbClr val="00A3E0"/>
                </a:solidFill>
                <a:latin typeface="Calibri" pitchFamily="34" charset="0"/>
                <a:ea typeface="Calibri" pitchFamily="34" charset="-122"/>
                <a:cs typeface="Calibri" pitchFamily="34" charset="-120"/>
              </a:rPr>
              <a:t>Off-the-Grid</a:t>
            </a:r>
            <a:endParaRPr lang="en-US" sz="2200" dirty="0"/>
          </a:p>
        </p:txBody>
      </p:sp>
      <p:sp>
        <p:nvSpPr>
          <p:cNvPr id="6" name="Text 4"/>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7" name="Text 5"/>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8" name="Text 6"/>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9" name="Text 7"/>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10" name="Text 8"/>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5/11</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Cadrage &amp; Validation WebVisu Codesys 3.5</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txBody>
          <a:bodyPr/>
          <a:lstStyle/>
          <a:p>
            <a:endParaRPr/>
          </a:p>
        </p:txBody>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txBody>
          <a:bodyPr/>
          <a:lstStyle/>
          <a:p>
            <a:endParaRPr/>
          </a:p>
        </p:txBody>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txBody>
          <a:bodyPr/>
          <a:lstStyle/>
          <a:p>
            <a:endParaRPr/>
          </a:p>
        </p:txBody>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txBody>
          <a:bodyPr/>
          <a:lstStyle/>
          <a:p>
            <a:endParaRPr/>
          </a:p>
        </p:txBody>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Analyse &amp; cadrage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txBody>
          <a:bodyPr/>
          <a:lstStyle/>
          <a:p>
            <a:endParaRPr/>
          </a:p>
        </p:txBody>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Étude de l'automate WAGO 750-8217 et de la WebVisu Codesys</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txBody>
          <a:bodyPr/>
          <a:lstStyle/>
          <a:p>
            <a:endParaRPr/>
          </a:p>
        </p:txBody>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txBody>
          <a:bodyPr/>
          <a:lstStyle/>
          <a:p>
            <a:endParaRPr/>
          </a:p>
        </p:txBody>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txBody>
          <a:bodyPr/>
          <a:lstStyle/>
          <a:p>
            <a:endParaRPr/>
          </a:p>
        </p:txBody>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Recensement des variables à suivre et des paramètres à piloter</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txBody>
          <a:bodyPr/>
          <a:lstStyle/>
          <a:p>
            <a:endParaRPr/>
          </a:p>
        </p:txBody>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txBody>
          <a:bodyPr/>
          <a:lstStyle/>
          <a:p>
            <a:endParaRPr/>
          </a:p>
        </p:txBody>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Périmètre de pilotage</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txBody>
          <a:bodyPr/>
          <a:lstStyle/>
          <a:p>
            <a:endParaRPr/>
          </a:p>
        </p:txBody>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Plages de sécurité (garde-fous) et valeurs par défaut</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txBody>
          <a:bodyPr/>
          <a:lstStyle/>
          <a:p>
            <a:endParaRPr/>
          </a:p>
        </p:txBody>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27" name="Shape 25"/>
          <p:cNvSpPr/>
          <p:nvPr/>
        </p:nvSpPr>
        <p:spPr>
          <a:xfrm>
            <a:off x="274320" y="-9999999"/>
            <a:ext cx="2926080" cy="384048"/>
          </a:xfrm>
          <a:prstGeom prst="rect">
            <a:avLst/>
          </a:prstGeom>
          <a:solidFill>
            <a:srgbClr val="1B2A4A"/>
          </a:solidFill>
          <a:ln w="6350">
            <a:solidFill>
              <a:srgbClr val="2A3F6A"/>
            </a:solidFill>
            <a:prstDash val="solid"/>
          </a:ln>
        </p:spPr>
        <p:txBody>
          <a:bodyPr/>
          <a:lstStyle/>
          <a:p>
            <a:endParaRPr/>
          </a:p>
        </p:txBody>
      </p:sp>
      <p:sp>
        <p:nvSpPr>
          <p:cNvPr id="28" name="Text 26"/>
          <p:cNvSpPr/>
          <p:nvPr/>
        </p:nvSpPr>
        <p:spPr>
          <a:xfrm>
            <a:off x="347472" y="-9999999"/>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9999999"/>
            <a:ext cx="4389120" cy="384048"/>
          </a:xfrm>
          <a:prstGeom prst="rect">
            <a:avLst/>
          </a:prstGeom>
          <a:solidFill>
            <a:srgbClr val="1B2A4A"/>
          </a:solidFill>
          <a:ln w="6350">
            <a:solidFill>
              <a:srgbClr val="2A3F6A"/>
            </a:solidFill>
            <a:prstDash val="solid"/>
          </a:ln>
        </p:spPr>
        <p:txBody>
          <a:bodyPr/>
          <a:lstStyle/>
          <a:p>
            <a:endParaRPr/>
          </a:p>
        </p:txBody>
      </p:sp>
      <p:sp>
        <p:nvSpPr>
          <p:cNvPr id="30" name="Text 28"/>
          <p:cNvSpPr/>
          <p:nvPr/>
        </p:nvSpPr>
        <p:spPr>
          <a:xfrm>
            <a:off x="3273552" y="-9999999"/>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Matrice de pilotage : variables, bornes, modes</a:t>
            </a:r>
            <a:endParaRPr lang="en-US" sz="1050" dirty="0"/>
          </a:p>
        </p:txBody>
      </p:sp>
      <p:sp>
        <p:nvSpPr>
          <p:cNvPr id="31" name="Shape 29"/>
          <p:cNvSpPr/>
          <p:nvPr/>
        </p:nvSpPr>
        <p:spPr>
          <a:xfrm>
            <a:off x="7571232" y="-9999999"/>
            <a:ext cx="1097280" cy="384048"/>
          </a:xfrm>
          <a:prstGeom prst="rect">
            <a:avLst/>
          </a:prstGeom>
          <a:solidFill>
            <a:srgbClr val="1B2A4A"/>
          </a:solidFill>
          <a:ln w="6350">
            <a:solidFill>
              <a:srgbClr val="2A3F6A"/>
            </a:solidFill>
            <a:prstDash val="solid"/>
          </a:ln>
        </p:spPr>
        <p:txBody>
          <a:bodyPr/>
          <a:lstStyle/>
          <a:p>
            <a:endParaRPr/>
          </a:p>
        </p:txBody>
      </p:sp>
      <p:sp>
        <p:nvSpPr>
          <p:cNvPr id="32" name="Text 30"/>
          <p:cNvSpPr/>
          <p:nvPr/>
        </p:nvSpPr>
        <p:spPr>
          <a:xfrm>
            <a:off x="7662672" y="-9999999"/>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txBody>
          <a:bodyPr/>
          <a:lstStyle/>
          <a:p>
            <a:endParaRPr/>
          </a:p>
        </p:txBody>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Configuration WebVisu</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txBody>
          <a:bodyPr/>
          <a:lstStyle/>
          <a:p>
            <a:endParaRPr/>
          </a:p>
        </p:txBody>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Validation des fonctionnalités de design de la page WebVisu native</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txBody>
          <a:bodyPr/>
          <a:lstStyle/>
          <a:p>
            <a:endParaRPr/>
          </a:p>
        </p:txBody>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txBody>
          <a:bodyPr/>
          <a:lstStyle/>
          <a:p>
            <a:endParaRPr/>
          </a:p>
        </p:txBody>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txBody>
          <a:bodyPr/>
          <a:lstStyle/>
          <a:p>
            <a:endParaRPr/>
          </a:p>
        </p:txBody>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Validation lecture / écriture via le tunnel, sans recompilation</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txBody>
          <a:bodyPr/>
          <a:lstStyle/>
          <a:p>
            <a:endParaRPr/>
          </a:p>
        </p:txBody>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6/11</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Couche de données &amp; connexion de l'application</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txBody>
          <a:bodyPr/>
          <a:lstStyle/>
          <a:p>
            <a:endParaRPr/>
          </a:p>
        </p:txBody>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txBody>
          <a:bodyPr/>
          <a:lstStyle/>
          <a:p>
            <a:endParaRPr/>
          </a:p>
        </p:txBody>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txBody>
          <a:bodyPr/>
          <a:lstStyle/>
          <a:p>
            <a:endParaRPr/>
          </a:p>
        </p:txBody>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txBody>
          <a:bodyPr/>
          <a:lstStyle/>
          <a:p>
            <a:endParaRPr/>
          </a:p>
        </p:txBody>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Couche de données</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txBody>
          <a:bodyPr/>
          <a:lstStyle/>
          <a:p>
            <a:endParaRPr/>
          </a:p>
        </p:txBody>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Couche d'accès aux variables (via WebVisu / passerelle)</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txBody>
          <a:bodyPr/>
          <a:lstStyle/>
          <a:p>
            <a:endParaRPr/>
          </a:p>
        </p:txBody>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txBody>
          <a:bodyPr/>
          <a:lstStyle/>
          <a:p>
            <a:endParaRPr/>
          </a:p>
        </p:txBody>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txBody>
          <a:bodyPr/>
          <a:lstStyle/>
          <a:p>
            <a:endParaRPr/>
          </a:p>
        </p:txBody>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Définition des classes et de la structure du code</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txBody>
          <a:bodyPr/>
          <a:lstStyle/>
          <a:p>
            <a:endParaRPr/>
          </a:p>
        </p:txBody>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txBody>
          <a:bodyPr/>
          <a:lstStyle/>
          <a:p>
            <a:endParaRPr/>
          </a:p>
        </p:txBody>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Connexion (tunnel)</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txBody>
          <a:bodyPr/>
          <a:lstStyle/>
          <a:p>
            <a:endParaRPr/>
          </a:p>
        </p:txBody>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Lancement du tunnel OpenVPN + ouverture de l'URL fixe</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txBody>
          <a:bodyPr/>
          <a:lstStyle/>
          <a:p>
            <a:endParaRPr/>
          </a:p>
        </p:txBody>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txBody>
          <a:bodyPr/>
          <a:lstStyle/>
          <a:p>
            <a:endParaRPr/>
          </a:p>
        </p:txBody>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txBody>
          <a:bodyPr/>
          <a:lstStyle/>
          <a:p>
            <a:endParaRPr/>
          </a:p>
        </p:txBody>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Lecture / écriture des paramètres réels via le tunnel</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txBody>
          <a:bodyPr/>
          <a:lstStyle/>
          <a:p>
            <a:endParaRPr/>
          </a:p>
        </p:txBody>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txBody>
          <a:bodyPr/>
          <a:lstStyle/>
          <a:p>
            <a:endParaRPr/>
          </a:p>
        </p:txBody>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&amp; livrable</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txBody>
          <a:bodyPr/>
          <a:lstStyle/>
          <a:p>
            <a:endParaRPr/>
          </a:p>
        </p:txBody>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Remplacement de la couche simulée du MVP par la réelle</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txBody>
          <a:bodyPr/>
          <a:lstStyle/>
          <a:p>
            <a:endParaRPr/>
          </a:p>
        </p:txBody>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txBody>
          <a:bodyPr/>
          <a:lstStyle/>
          <a:p>
            <a:endParaRPr/>
          </a:p>
        </p:txBody>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txBody>
          <a:bodyPr/>
          <a:lstStyle/>
          <a:p>
            <a:endParaRPr/>
          </a:p>
        </p:txBody>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bout en bout + documentation de la couche d'accès</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txBody>
          <a:bodyPr/>
          <a:lstStyle/>
          <a:p>
            <a:endParaRPr/>
          </a:p>
        </p:txBody>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7/11</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Pilotage, garde-fous &amp; application mobile</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txBody>
          <a:bodyPr/>
          <a:lstStyle/>
          <a:p>
            <a:endParaRPr/>
          </a:p>
        </p:txBody>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txBody>
          <a:bodyPr/>
          <a:lstStyle/>
          <a:p>
            <a:endParaRPr/>
          </a:p>
        </p:txBody>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txBody>
          <a:bodyPr/>
          <a:lstStyle/>
          <a:p>
            <a:endParaRPr/>
          </a:p>
        </p:txBody>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txBody>
          <a:bodyPr/>
          <a:lstStyle/>
          <a:p>
            <a:endParaRPr/>
          </a:p>
        </p:txBody>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Contrôles de pilotage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txBody>
          <a:bodyPr/>
          <a:lstStyle/>
          <a:p>
            <a:endParaRPr/>
          </a:p>
        </p:txBody>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Conception des contrôles : modes, consignes, on/off</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txBody>
          <a:bodyPr/>
          <a:lstStyle/>
          <a:p>
            <a:endParaRPr/>
          </a:p>
        </p:txBody>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txBody>
          <a:bodyPr/>
          <a:lstStyle/>
          <a:p>
            <a:endParaRPr/>
          </a:p>
        </p:txBody>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txBody>
          <a:bodyPr/>
          <a:lstStyle/>
          <a:p>
            <a:endParaRPr/>
          </a:p>
        </p:txBody>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Garde-fous applicatifs : validation des plages admissibles</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txBody>
          <a:bodyPr/>
          <a:lstStyle/>
          <a:p>
            <a:endParaRPr/>
          </a:p>
        </p:txBody>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txBody>
          <a:bodyPr/>
          <a:lstStyle/>
          <a:p>
            <a:endParaRPr/>
          </a:p>
        </p:txBody>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Application mobile</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txBody>
          <a:bodyPr/>
          <a:lstStyle/>
          <a:p>
            <a:endParaRPr/>
          </a:p>
        </p:txBody>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Empaquetage en application mobile (Capacitor / React Native)</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txBody>
          <a:bodyPr/>
          <a:lstStyle/>
          <a:p>
            <a:endParaRPr/>
          </a:p>
        </p:txBody>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6H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txBody>
          <a:bodyPr/>
          <a:lstStyle/>
          <a:p>
            <a:endParaRPr/>
          </a:p>
        </p:txBody>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txBody>
          <a:bodyPr/>
          <a:lstStyle/>
          <a:p>
            <a:endParaRPr/>
          </a:p>
        </p:txBody>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Adaptation de l'ergonomie au format smartphone</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txBody>
          <a:bodyPr/>
          <a:lstStyle/>
          <a:p>
            <a:endParaRPr/>
          </a:p>
        </p:txBody>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3" name="Shape 31"/>
          <p:cNvSpPr/>
          <p:nvPr/>
        </p:nvSpPr>
        <p:spPr>
          <a:xfrm>
            <a:off x="274320" y="2606040"/>
            <a:ext cx="2926080" cy="384048"/>
          </a:xfrm>
          <a:prstGeom prst="rect">
            <a:avLst/>
          </a:prstGeom>
          <a:solidFill>
            <a:srgbClr val="162035"/>
          </a:solidFill>
          <a:ln w="6350">
            <a:solidFill>
              <a:srgbClr val="2A3F6A"/>
            </a:solidFill>
            <a:prstDash val="solid"/>
          </a:ln>
        </p:spPr>
        <p:txBody>
          <a:bodyPr/>
          <a:lstStyle/>
          <a:p>
            <a:endParaRPr/>
          </a:p>
        </p:txBody>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Validation</a:t>
            </a:r>
            <a:endParaRPr lang="en-US" sz="1050" dirty="0"/>
          </a:p>
        </p:txBody>
      </p:sp>
      <p:sp>
        <p:nvSpPr>
          <p:cNvPr id="35" name="Shape 33"/>
          <p:cNvSpPr/>
          <p:nvPr/>
        </p:nvSpPr>
        <p:spPr>
          <a:xfrm>
            <a:off x="3200400" y="2606040"/>
            <a:ext cx="4389120" cy="384048"/>
          </a:xfrm>
          <a:prstGeom prst="rect">
            <a:avLst/>
          </a:prstGeom>
          <a:solidFill>
            <a:srgbClr val="162035"/>
          </a:solidFill>
          <a:ln w="6350">
            <a:solidFill>
              <a:srgbClr val="2A3F6A"/>
            </a:solidFill>
            <a:prstDash val="solid"/>
          </a:ln>
        </p:spPr>
        <p:txBody>
          <a:bodyPr/>
          <a:lstStyle/>
          <a:p>
            <a:endParaRPr/>
          </a:p>
        </p:txBody>
      </p:sp>
      <p:sp>
        <p:nvSpPr>
          <p:cNvPr id="36" name="Text 34"/>
          <p:cNvSpPr/>
          <p:nvPr/>
        </p:nvSpPr>
        <p:spPr>
          <a:xfrm>
            <a:off x="3273552" y="2606040"/>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Revue de l'ergonomie avec François</a:t>
            </a:r>
            <a:endParaRPr lang="en-US" sz="1050" dirty="0"/>
          </a:p>
        </p:txBody>
      </p:sp>
      <p:sp>
        <p:nvSpPr>
          <p:cNvPr id="37" name="Shape 35"/>
          <p:cNvSpPr/>
          <p:nvPr/>
        </p:nvSpPr>
        <p:spPr>
          <a:xfrm>
            <a:off x="7589520" y="2606040"/>
            <a:ext cx="1097280" cy="384048"/>
          </a:xfrm>
          <a:prstGeom prst="rect">
            <a:avLst/>
          </a:prstGeom>
          <a:solidFill>
            <a:srgbClr val="162035"/>
          </a:solidFill>
          <a:ln w="6350">
            <a:solidFill>
              <a:srgbClr val="2A3F6A"/>
            </a:solidFill>
            <a:prstDash val="solid"/>
          </a:ln>
        </p:spPr>
        <p:txBody>
          <a:bodyPr/>
          <a:lstStyle/>
          <a:p>
            <a:endParaRPr/>
          </a:p>
        </p:txBody>
      </p:sp>
      <p:sp>
        <p:nvSpPr>
          <p:cNvPr id="38" name="Text 36"/>
          <p:cNvSpPr/>
          <p:nvPr/>
        </p:nvSpPr>
        <p:spPr>
          <a:xfrm>
            <a:off x="7662672" y="2606040"/>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39" name="Shape 37"/>
          <p:cNvSpPr/>
          <p:nvPr/>
        </p:nvSpPr>
        <p:spPr>
          <a:xfrm>
            <a:off x="274320" y="2990088"/>
            <a:ext cx="2926080" cy="384048"/>
          </a:xfrm>
          <a:prstGeom prst="rect">
            <a:avLst/>
          </a:prstGeom>
          <a:solidFill>
            <a:srgbClr val="1B2A4A"/>
          </a:solidFill>
          <a:ln w="6350">
            <a:solidFill>
              <a:srgbClr val="2A3F6A"/>
            </a:solidFill>
            <a:prstDash val="solid"/>
          </a:ln>
        </p:spPr>
        <p:txBody>
          <a:bodyPr/>
          <a:lstStyle/>
          <a:p>
            <a:endParaRPr/>
          </a:p>
        </p:txBody>
      </p:sp>
      <p:sp>
        <p:nvSpPr>
          <p:cNvPr id="40" name="Text 38"/>
          <p:cNvSpPr/>
          <p:nvPr/>
        </p:nvSpPr>
        <p:spPr>
          <a:xfrm>
            <a:off x="347472" y="299008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Livrable</a:t>
            </a:r>
            <a:endParaRPr lang="en-US" sz="1050" dirty="0"/>
          </a:p>
        </p:txBody>
      </p:sp>
      <p:sp>
        <p:nvSpPr>
          <p:cNvPr id="41" name="Shape 39"/>
          <p:cNvSpPr/>
          <p:nvPr/>
        </p:nvSpPr>
        <p:spPr>
          <a:xfrm>
            <a:off x="3200400" y="2990088"/>
            <a:ext cx="4389120" cy="384048"/>
          </a:xfrm>
          <a:prstGeom prst="rect">
            <a:avLst/>
          </a:prstGeom>
          <a:solidFill>
            <a:srgbClr val="1B2A4A"/>
          </a:solidFill>
          <a:ln w="6350">
            <a:solidFill>
              <a:srgbClr val="2A3F6A"/>
            </a:solidFill>
            <a:prstDash val="solid"/>
          </a:ln>
        </p:spPr>
        <p:txBody>
          <a:bodyPr/>
          <a:lstStyle/>
          <a:p>
            <a:endParaRPr/>
          </a:p>
        </p:txBody>
      </p:sp>
      <p:sp>
        <p:nvSpPr>
          <p:cNvPr id="42" name="Text 40"/>
          <p:cNvSpPr/>
          <p:nvPr/>
        </p:nvSpPr>
        <p:spPr>
          <a:xfrm>
            <a:off x="3273552" y="299008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Version bêta de l'application (web + mobile)</a:t>
            </a:r>
            <a:endParaRPr lang="en-US" sz="1050" dirty="0"/>
          </a:p>
        </p:txBody>
      </p:sp>
      <p:sp>
        <p:nvSpPr>
          <p:cNvPr id="43" name="Shape 41"/>
          <p:cNvSpPr/>
          <p:nvPr/>
        </p:nvSpPr>
        <p:spPr>
          <a:xfrm>
            <a:off x="7589520" y="2990088"/>
            <a:ext cx="1097280" cy="384048"/>
          </a:xfrm>
          <a:prstGeom prst="rect">
            <a:avLst/>
          </a:prstGeom>
          <a:solidFill>
            <a:srgbClr val="1B2A4A"/>
          </a:solidFill>
          <a:ln w="6350">
            <a:solidFill>
              <a:srgbClr val="2A3F6A"/>
            </a:solidFill>
            <a:prstDash val="solid"/>
          </a:ln>
        </p:spPr>
        <p:txBody>
          <a:bodyPr/>
          <a:lstStyle/>
          <a:p>
            <a:endParaRPr/>
          </a:p>
        </p:txBody>
      </p:sp>
      <p:sp>
        <p:nvSpPr>
          <p:cNvPr id="44" name="Text 42"/>
          <p:cNvSpPr/>
          <p:nvPr/>
        </p:nvSpPr>
        <p:spPr>
          <a:xfrm>
            <a:off x="7662672" y="299008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8/11</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Méthodologie : Tests de robustesse, déploiement &amp; documentation</a:t>
            </a:r>
            <a:endParaRPr lang="en-US" sz="2000" dirty="0"/>
          </a:p>
        </p:txBody>
      </p:sp>
      <p:sp>
        <p:nvSpPr>
          <p:cNvPr id="3" name="Shape 1"/>
          <p:cNvSpPr/>
          <p:nvPr/>
        </p:nvSpPr>
        <p:spPr>
          <a:xfrm>
            <a:off x="274320" y="749808"/>
            <a:ext cx="2926080" cy="320040"/>
          </a:xfrm>
          <a:prstGeom prst="rect">
            <a:avLst/>
          </a:prstGeom>
          <a:solidFill>
            <a:srgbClr val="1565C0"/>
          </a:solidFill>
          <a:ln w="12700">
            <a:solidFill>
              <a:srgbClr val="1B2A4A"/>
            </a:solidFill>
            <a:prstDash val="solid"/>
          </a:ln>
        </p:spPr>
        <p:txBody>
          <a:bodyPr/>
          <a:lstStyle/>
          <a:p>
            <a:endParaRPr/>
          </a:p>
        </p:txBody>
      </p:sp>
      <p:sp>
        <p:nvSpPr>
          <p:cNvPr id="4" name="Text 2"/>
          <p:cNvSpPr/>
          <p:nvPr/>
        </p:nvSpPr>
        <p:spPr>
          <a:xfrm>
            <a:off x="274320" y="749808"/>
            <a:ext cx="29260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p>
        </p:txBody>
      </p:sp>
      <p:sp>
        <p:nvSpPr>
          <p:cNvPr id="5" name="Shape 3"/>
          <p:cNvSpPr/>
          <p:nvPr/>
        </p:nvSpPr>
        <p:spPr>
          <a:xfrm>
            <a:off x="3200400" y="749808"/>
            <a:ext cx="4389120" cy="320040"/>
          </a:xfrm>
          <a:prstGeom prst="rect">
            <a:avLst/>
          </a:prstGeom>
          <a:solidFill>
            <a:srgbClr val="1565C0"/>
          </a:solidFill>
          <a:ln w="12700">
            <a:solidFill>
              <a:srgbClr val="1B2A4A"/>
            </a:solidFill>
            <a:prstDash val="solid"/>
          </a:ln>
        </p:spPr>
        <p:txBody>
          <a:bodyPr/>
          <a:lstStyle/>
          <a:p>
            <a:endParaRPr/>
          </a:p>
        </p:txBody>
      </p:sp>
      <p:sp>
        <p:nvSpPr>
          <p:cNvPr id="6" name="Text 4"/>
          <p:cNvSpPr/>
          <p:nvPr/>
        </p:nvSpPr>
        <p:spPr>
          <a:xfrm>
            <a:off x="3200400" y="749808"/>
            <a:ext cx="4389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Sous-actions</a:t>
            </a:r>
            <a:endParaRPr lang="en-US" sz="1200" dirty="0"/>
          </a:p>
        </p:txBody>
      </p:sp>
      <p:sp>
        <p:nvSpPr>
          <p:cNvPr id="7" name="Shape 5"/>
          <p:cNvSpPr/>
          <p:nvPr/>
        </p:nvSpPr>
        <p:spPr>
          <a:xfrm>
            <a:off x="7589520" y="749808"/>
            <a:ext cx="1097280" cy="320040"/>
          </a:xfrm>
          <a:prstGeom prst="rect">
            <a:avLst/>
          </a:prstGeom>
          <a:solidFill>
            <a:srgbClr val="1565C0"/>
          </a:solidFill>
          <a:ln w="12700">
            <a:solidFill>
              <a:srgbClr val="1B2A4A"/>
            </a:solidFill>
            <a:prstDash val="solid"/>
          </a:ln>
        </p:spPr>
        <p:txBody>
          <a:bodyPr/>
          <a:lstStyle/>
          <a:p>
            <a:endParaRPr/>
          </a:p>
        </p:txBody>
      </p:sp>
      <p:sp>
        <p:nvSpPr>
          <p:cNvPr id="8" name="Text 6"/>
          <p:cNvSpPr/>
          <p:nvPr/>
        </p:nvSpPr>
        <p:spPr>
          <a:xfrm>
            <a:off x="7589520" y="749808"/>
            <a:ext cx="10972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Temps</a:t>
            </a:r>
            <a:endParaRPr lang="en-US" sz="1200" dirty="0"/>
          </a:p>
        </p:txBody>
      </p:sp>
      <p:sp>
        <p:nvSpPr>
          <p:cNvPr id="9" name="Shape 7"/>
          <p:cNvSpPr/>
          <p:nvPr/>
        </p:nvSpPr>
        <p:spPr>
          <a:xfrm>
            <a:off x="274320" y="1069848"/>
            <a:ext cx="2926080" cy="384048"/>
          </a:xfrm>
          <a:prstGeom prst="rect">
            <a:avLst/>
          </a:prstGeom>
          <a:solidFill>
            <a:srgbClr val="162035"/>
          </a:solidFill>
          <a:ln w="6350">
            <a:solidFill>
              <a:srgbClr val="2A3F6A"/>
            </a:solidFill>
            <a:prstDash val="solid"/>
          </a:ln>
        </p:spPr>
        <p:txBody>
          <a:bodyPr/>
          <a:lstStyle/>
          <a:p>
            <a:endParaRPr/>
          </a:p>
        </p:txBody>
      </p:sp>
      <p:sp>
        <p:nvSpPr>
          <p:cNvPr id="10" name="Text 8"/>
          <p:cNvSpPr/>
          <p:nvPr/>
        </p:nvSpPr>
        <p:spPr>
          <a:xfrm>
            <a:off x="347472" y="1069848"/>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Tests de robustesse</a:t>
            </a:r>
            <a:endParaRPr lang="en-US" sz="1050" dirty="0"/>
          </a:p>
        </p:txBody>
      </p:sp>
      <p:sp>
        <p:nvSpPr>
          <p:cNvPr id="11" name="Shape 9"/>
          <p:cNvSpPr/>
          <p:nvPr/>
        </p:nvSpPr>
        <p:spPr>
          <a:xfrm>
            <a:off x="3200400" y="1069848"/>
            <a:ext cx="4389120" cy="384048"/>
          </a:xfrm>
          <a:prstGeom prst="rect">
            <a:avLst/>
          </a:prstGeom>
          <a:solidFill>
            <a:srgbClr val="162035"/>
          </a:solidFill>
          <a:ln w="6350">
            <a:solidFill>
              <a:srgbClr val="2A3F6A"/>
            </a:solidFill>
            <a:prstDash val="solid"/>
          </a:ln>
        </p:spPr>
        <p:txBody>
          <a:bodyPr/>
          <a:lstStyle/>
          <a:p>
            <a:endParaRPr/>
          </a:p>
        </p:txBody>
      </p:sp>
      <p:sp>
        <p:nvSpPr>
          <p:cNvPr id="12" name="Text 10"/>
          <p:cNvSpPr/>
          <p:nvPr/>
        </p:nvSpPr>
        <p:spPr>
          <a:xfrm>
            <a:off x="3273552" y="1069848"/>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Simulation d'une coupure 4G en pleine modification</a:t>
            </a:r>
            <a:endParaRPr lang="en-US" sz="1050" dirty="0"/>
          </a:p>
        </p:txBody>
      </p:sp>
      <p:sp>
        <p:nvSpPr>
          <p:cNvPr id="13" name="Shape 11"/>
          <p:cNvSpPr/>
          <p:nvPr/>
        </p:nvSpPr>
        <p:spPr>
          <a:xfrm>
            <a:off x="7589520" y="1069848"/>
            <a:ext cx="1097280" cy="384048"/>
          </a:xfrm>
          <a:prstGeom prst="rect">
            <a:avLst/>
          </a:prstGeom>
          <a:solidFill>
            <a:srgbClr val="162035"/>
          </a:solidFill>
          <a:ln w="6350">
            <a:solidFill>
              <a:srgbClr val="2A3F6A"/>
            </a:solidFill>
            <a:prstDash val="solid"/>
          </a:ln>
        </p:spPr>
        <p:txBody>
          <a:bodyPr/>
          <a:lstStyle/>
          <a:p>
            <a:endParaRPr/>
          </a:p>
        </p:txBody>
      </p:sp>
      <p:sp>
        <p:nvSpPr>
          <p:cNvPr id="14" name="Text 12"/>
          <p:cNvSpPr/>
          <p:nvPr/>
        </p:nvSpPr>
        <p:spPr>
          <a:xfrm>
            <a:off x="7662672" y="1069848"/>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2H</a:t>
            </a:r>
            <a:endParaRPr lang="en-US" sz="1050" dirty="0"/>
          </a:p>
        </p:txBody>
      </p:sp>
      <p:sp>
        <p:nvSpPr>
          <p:cNvPr id="15" name="Shape 13"/>
          <p:cNvSpPr/>
          <p:nvPr/>
        </p:nvSpPr>
        <p:spPr>
          <a:xfrm>
            <a:off x="274320" y="1453896"/>
            <a:ext cx="2926080" cy="384048"/>
          </a:xfrm>
          <a:prstGeom prst="rect">
            <a:avLst/>
          </a:prstGeom>
          <a:solidFill>
            <a:srgbClr val="1B2A4A"/>
          </a:solidFill>
          <a:ln w="6350">
            <a:solidFill>
              <a:srgbClr val="2A3F6A"/>
            </a:solidFill>
            <a:prstDash val="solid"/>
          </a:ln>
        </p:spPr>
        <p:txBody>
          <a:bodyPr/>
          <a:lstStyle/>
          <a:p>
            <a:endParaRPr/>
          </a:p>
        </p:txBody>
      </p:sp>
      <p:sp>
        <p:nvSpPr>
          <p:cNvPr id="16" name="Text 14"/>
          <p:cNvSpPr/>
          <p:nvPr/>
        </p:nvSpPr>
        <p:spPr>
          <a:xfrm>
            <a:off x="347472" y="1453896"/>
            <a:ext cx="2834640" cy="384048"/>
          </a:xfrm>
          <a:prstGeom prst="rect">
            <a:avLst/>
          </a:prstGeom>
          <a:noFill/>
          <a:ln/>
        </p:spPr>
        <p:txBody>
          <a:bodyPr wrap="square" lIns="0" tIns="0" rIns="0" bIns="0" rtlCol="0" anchor="ctr"/>
          <a:lstStyle/>
          <a:p>
            <a:pPr marL="0" indent="0">
              <a:buNone/>
            </a:pPr>
            <a:endParaRPr lang="en-US" sz="1050" dirty="0"/>
          </a:p>
        </p:txBody>
      </p:sp>
      <p:sp>
        <p:nvSpPr>
          <p:cNvPr id="17" name="Shape 15"/>
          <p:cNvSpPr/>
          <p:nvPr/>
        </p:nvSpPr>
        <p:spPr>
          <a:xfrm>
            <a:off x="3200400" y="1453896"/>
            <a:ext cx="4389120" cy="384048"/>
          </a:xfrm>
          <a:prstGeom prst="rect">
            <a:avLst/>
          </a:prstGeom>
          <a:solidFill>
            <a:srgbClr val="1B2A4A"/>
          </a:solidFill>
          <a:ln w="6350">
            <a:solidFill>
              <a:srgbClr val="2A3F6A"/>
            </a:solidFill>
            <a:prstDash val="solid"/>
          </a:ln>
        </p:spPr>
        <p:txBody>
          <a:bodyPr/>
          <a:lstStyle/>
          <a:p>
            <a:endParaRPr/>
          </a:p>
        </p:txBody>
      </p:sp>
      <p:sp>
        <p:nvSpPr>
          <p:cNvPr id="18" name="Text 16"/>
          <p:cNvSpPr/>
          <p:nvPr/>
        </p:nvSpPr>
        <p:spPr>
          <a:xfrm>
            <a:off x="3273552" y="1453896"/>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L'automate conserve ses derniers paramètres valides</a:t>
            </a:r>
            <a:endParaRPr lang="en-US" sz="1050" dirty="0"/>
          </a:p>
        </p:txBody>
      </p:sp>
      <p:sp>
        <p:nvSpPr>
          <p:cNvPr id="19" name="Shape 17"/>
          <p:cNvSpPr/>
          <p:nvPr/>
        </p:nvSpPr>
        <p:spPr>
          <a:xfrm>
            <a:off x="7589520" y="1453896"/>
            <a:ext cx="1097280" cy="384048"/>
          </a:xfrm>
          <a:prstGeom prst="rect">
            <a:avLst/>
          </a:prstGeom>
          <a:solidFill>
            <a:srgbClr val="1B2A4A"/>
          </a:solidFill>
          <a:ln w="6350">
            <a:solidFill>
              <a:srgbClr val="2A3F6A"/>
            </a:solidFill>
            <a:prstDash val="solid"/>
          </a:ln>
        </p:spPr>
        <p:txBody>
          <a:bodyPr/>
          <a:lstStyle/>
          <a:p>
            <a:endParaRPr/>
          </a:p>
        </p:txBody>
      </p:sp>
      <p:sp>
        <p:nvSpPr>
          <p:cNvPr id="20" name="Text 18"/>
          <p:cNvSpPr/>
          <p:nvPr/>
        </p:nvSpPr>
        <p:spPr>
          <a:xfrm>
            <a:off x="7662672" y="1453896"/>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1" name="Shape 19"/>
          <p:cNvSpPr/>
          <p:nvPr/>
        </p:nvSpPr>
        <p:spPr>
          <a:xfrm>
            <a:off x="274320" y="1837944"/>
            <a:ext cx="2926080" cy="384048"/>
          </a:xfrm>
          <a:prstGeom prst="rect">
            <a:avLst/>
          </a:prstGeom>
          <a:solidFill>
            <a:srgbClr val="162035"/>
          </a:solidFill>
          <a:ln w="6350">
            <a:solidFill>
              <a:srgbClr val="2A3F6A"/>
            </a:solidFill>
            <a:prstDash val="solid"/>
          </a:ln>
        </p:spPr>
        <p:txBody>
          <a:bodyPr/>
          <a:lstStyle/>
          <a:p>
            <a:endParaRPr/>
          </a:p>
        </p:txBody>
      </p:sp>
      <p:sp>
        <p:nvSpPr>
          <p:cNvPr id="22" name="Text 20"/>
          <p:cNvSpPr/>
          <p:nvPr/>
        </p:nvSpPr>
        <p:spPr>
          <a:xfrm>
            <a:off x="347472" y="1837944"/>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Déploiement</a:t>
            </a:r>
            <a:endParaRPr lang="en-US" sz="1050" dirty="0"/>
          </a:p>
        </p:txBody>
      </p:sp>
      <p:sp>
        <p:nvSpPr>
          <p:cNvPr id="23" name="Shape 21"/>
          <p:cNvSpPr/>
          <p:nvPr/>
        </p:nvSpPr>
        <p:spPr>
          <a:xfrm>
            <a:off x="3200400" y="1837944"/>
            <a:ext cx="4389120" cy="384048"/>
          </a:xfrm>
          <a:prstGeom prst="rect">
            <a:avLst/>
          </a:prstGeom>
          <a:solidFill>
            <a:srgbClr val="162035"/>
          </a:solidFill>
          <a:ln w="6350">
            <a:solidFill>
              <a:srgbClr val="2A3F6A"/>
            </a:solidFill>
            <a:prstDash val="solid"/>
          </a:ln>
        </p:spPr>
        <p:txBody>
          <a:bodyPr/>
          <a:lstStyle/>
          <a:p>
            <a:endParaRPr/>
          </a:p>
        </p:txBody>
      </p:sp>
      <p:sp>
        <p:nvSpPr>
          <p:cNvPr id="24" name="Text 22"/>
          <p:cNvSpPr/>
          <p:nvPr/>
        </p:nvSpPr>
        <p:spPr>
          <a:xfrm>
            <a:off x="3273552" y="1837944"/>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Mise à disposition de l'app + procédure de connexion</a:t>
            </a:r>
            <a:endParaRPr lang="en-US" sz="1050" dirty="0"/>
          </a:p>
        </p:txBody>
      </p:sp>
      <p:sp>
        <p:nvSpPr>
          <p:cNvPr id="25" name="Shape 23"/>
          <p:cNvSpPr/>
          <p:nvPr/>
        </p:nvSpPr>
        <p:spPr>
          <a:xfrm>
            <a:off x="7589520" y="1837944"/>
            <a:ext cx="1097280" cy="384048"/>
          </a:xfrm>
          <a:prstGeom prst="rect">
            <a:avLst/>
          </a:prstGeom>
          <a:solidFill>
            <a:srgbClr val="162035"/>
          </a:solidFill>
          <a:ln w="6350">
            <a:solidFill>
              <a:srgbClr val="2A3F6A"/>
            </a:solidFill>
            <a:prstDash val="solid"/>
          </a:ln>
        </p:spPr>
        <p:txBody>
          <a:bodyPr/>
          <a:lstStyle/>
          <a:p>
            <a:endParaRPr/>
          </a:p>
        </p:txBody>
      </p:sp>
      <p:sp>
        <p:nvSpPr>
          <p:cNvPr id="26" name="Text 24"/>
          <p:cNvSpPr/>
          <p:nvPr/>
        </p:nvSpPr>
        <p:spPr>
          <a:xfrm>
            <a:off x="7662672" y="1837944"/>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27" name="Shape 25"/>
          <p:cNvSpPr/>
          <p:nvPr/>
        </p:nvSpPr>
        <p:spPr>
          <a:xfrm>
            <a:off x="274320" y="2221992"/>
            <a:ext cx="2926080" cy="384048"/>
          </a:xfrm>
          <a:prstGeom prst="rect">
            <a:avLst/>
          </a:prstGeom>
          <a:solidFill>
            <a:srgbClr val="1B2A4A"/>
          </a:solidFill>
          <a:ln w="6350">
            <a:solidFill>
              <a:srgbClr val="2A3F6A"/>
            </a:solidFill>
            <a:prstDash val="solid"/>
          </a:ln>
        </p:spPr>
        <p:txBody>
          <a:bodyPr/>
          <a:lstStyle/>
          <a:p>
            <a:endParaRPr/>
          </a:p>
        </p:txBody>
      </p:sp>
      <p:sp>
        <p:nvSpPr>
          <p:cNvPr id="28" name="Text 26"/>
          <p:cNvSpPr/>
          <p:nvPr/>
        </p:nvSpPr>
        <p:spPr>
          <a:xfrm>
            <a:off x="347472" y="2221992"/>
            <a:ext cx="28346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Documentation</a:t>
            </a:r>
            <a:endParaRPr lang="en-US" sz="1050" dirty="0"/>
          </a:p>
        </p:txBody>
      </p:sp>
      <p:sp>
        <p:nvSpPr>
          <p:cNvPr id="29" name="Shape 27"/>
          <p:cNvSpPr/>
          <p:nvPr/>
        </p:nvSpPr>
        <p:spPr>
          <a:xfrm>
            <a:off x="3200400" y="2221992"/>
            <a:ext cx="4389120" cy="384048"/>
          </a:xfrm>
          <a:prstGeom prst="rect">
            <a:avLst/>
          </a:prstGeom>
          <a:solidFill>
            <a:srgbClr val="1B2A4A"/>
          </a:solidFill>
          <a:ln w="6350">
            <a:solidFill>
              <a:srgbClr val="2A3F6A"/>
            </a:solidFill>
            <a:prstDash val="solid"/>
          </a:ln>
        </p:spPr>
        <p:txBody>
          <a:bodyPr/>
          <a:lstStyle/>
          <a:p>
            <a:endParaRPr/>
          </a:p>
        </p:txBody>
      </p:sp>
      <p:sp>
        <p:nvSpPr>
          <p:cNvPr id="30" name="Text 28"/>
          <p:cNvSpPr/>
          <p:nvPr/>
        </p:nvSpPr>
        <p:spPr>
          <a:xfrm>
            <a:off x="3273552" y="2221992"/>
            <a:ext cx="429768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Documentation technique + guide d'utilisation</a:t>
            </a:r>
            <a:endParaRPr lang="en-US" sz="1050" dirty="0"/>
          </a:p>
        </p:txBody>
      </p:sp>
      <p:sp>
        <p:nvSpPr>
          <p:cNvPr id="31" name="Shape 29"/>
          <p:cNvSpPr/>
          <p:nvPr/>
        </p:nvSpPr>
        <p:spPr>
          <a:xfrm>
            <a:off x="7589520" y="2221992"/>
            <a:ext cx="1097280" cy="384048"/>
          </a:xfrm>
          <a:prstGeom prst="rect">
            <a:avLst/>
          </a:prstGeom>
          <a:solidFill>
            <a:srgbClr val="1B2A4A"/>
          </a:solidFill>
          <a:ln w="6350">
            <a:solidFill>
              <a:srgbClr val="2A3F6A"/>
            </a:solidFill>
            <a:prstDash val="solid"/>
          </a:ln>
        </p:spPr>
        <p:txBody>
          <a:bodyPr/>
          <a:lstStyle/>
          <a:p>
            <a:endParaRPr/>
          </a:p>
        </p:txBody>
      </p:sp>
      <p:sp>
        <p:nvSpPr>
          <p:cNvPr id="32" name="Text 30"/>
          <p:cNvSpPr/>
          <p:nvPr/>
        </p:nvSpPr>
        <p:spPr>
          <a:xfrm>
            <a:off x="7662672" y="2221992"/>
            <a:ext cx="1005840" cy="384048"/>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4H</a:t>
            </a:r>
            <a:endParaRPr lang="en-US" sz="1050" dirty="0"/>
          </a:p>
        </p:txBody>
      </p:sp>
      <p:sp>
        <p:nvSpPr>
          <p:cNvPr id="34" name="Text 32"/>
          <p:cNvSpPr/>
          <p:nvPr/>
        </p:nvSpPr>
        <p:spPr>
          <a:xfrm>
            <a:off x="347472" y="2606040"/>
            <a:ext cx="2834640" cy="384048"/>
          </a:xfrm>
          <a:prstGeom prst="rect">
            <a:avLst/>
          </a:prstGeom>
          <a:noFill/>
          <a:ln/>
        </p:spPr>
        <p:txBody>
          <a:bodyPr wrap="square" lIns="0" tIns="0" rIns="0" bIns="0" rtlCol="0" anchor="ctr"/>
          <a:lstStyle/>
          <a:p>
            <a:pPr marL="0" indent="0">
              <a:buNone/>
            </a:pPr>
            <a:endParaRPr lang="en-US" sz="1050" dirty="0"/>
          </a:p>
        </p:txBody>
      </p:sp>
      <p:sp>
        <p:nvSpPr>
          <p:cNvPr id="45" name="Text 43"/>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6" name="Text 44"/>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7" name="Text 45"/>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8" name="Text 46"/>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9" name="Text 47"/>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9/11</a:t>
            </a:r>
            <a:endParaRPr lang="en-US" sz="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Box 1"/>
          <p:cNvSpPr txBox="1"/>
          <p:nvPr/>
        </p:nvSpPr>
        <p:spPr>
          <a:xfrm>
            <a:off x="365760" y="137160"/>
            <a:ext cx="8412480" cy="4572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600" b="1" i="0" u="none" strike="noStrike" kern="1200" cap="none" spc="0" normalizeH="0" baseline="0" noProof="0">
                <a:ln>
                  <a:noFill/>
                </a:ln>
                <a:solidFill>
                  <a:srgbClr val="FFFFFF"/>
                </a:solidFill>
                <a:effectLst/>
                <a:uLnTx/>
                <a:uFillTx/>
                <a:latin typeface="Calibri"/>
                <a:ea typeface="+mn-ea"/>
                <a:cs typeface="+mn-cs"/>
              </a:rPr>
              <a:t>Coûts</a:t>
            </a:r>
          </a:p>
        </p:txBody>
      </p:sp>
      <p:sp>
        <p:nvSpPr>
          <p:cNvPr id="3" name="TextBox 2"/>
          <p:cNvSpPr txBox="1"/>
          <p:nvPr/>
        </p:nvSpPr>
        <p:spPr>
          <a:xfrm>
            <a:off x="365760" y="640080"/>
            <a:ext cx="8412480" cy="5029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1" u="none" strike="noStrike" kern="1200" cap="none" spc="0" normalizeH="0" baseline="0" noProof="0">
                <a:ln>
                  <a:noFill/>
                </a:ln>
                <a:solidFill>
                  <a:srgbClr val="FFFFFF"/>
                </a:solidFill>
                <a:effectLst/>
                <a:uLnTx/>
                <a:uFillTx/>
                <a:latin typeface="Calibri"/>
                <a:ea typeface="+mn-ea"/>
                <a:cs typeface="+mn-cs"/>
              </a:rPr>
              <a:t>Le coût de l'étude est évalué en Jour-Étude Homme (JEH), unité de compte indivisible imposée par la réglementation aux Junior-Entreprises. Un JEH correspond approximativement à 8 heures effectives de travail par l'étudiant.</a:t>
            </a:r>
          </a:p>
        </p:txBody>
      </p:sp>
      <p:sp>
        <p:nvSpPr>
          <p:cNvPr id="4" name="Rectangle 3"/>
          <p:cNvSpPr/>
          <p:nvPr/>
        </p:nvSpPr>
        <p:spPr>
          <a:xfrm>
            <a:off x="228600" y="1188720"/>
            <a:ext cx="59436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p:cNvSpPr txBox="1"/>
          <p:nvPr/>
        </p:nvSpPr>
        <p:spPr>
          <a:xfrm>
            <a:off x="265176" y="1188720"/>
            <a:ext cx="55778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Phase</a:t>
            </a:r>
          </a:p>
        </p:txBody>
      </p:sp>
      <p:sp>
        <p:nvSpPr>
          <p:cNvPr id="6" name="Rectangle 5"/>
          <p:cNvSpPr/>
          <p:nvPr/>
        </p:nvSpPr>
        <p:spPr>
          <a:xfrm>
            <a:off x="822960" y="1188720"/>
            <a:ext cx="416052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p:cNvSpPr txBox="1"/>
          <p:nvPr/>
        </p:nvSpPr>
        <p:spPr>
          <a:xfrm>
            <a:off x="859536" y="1188720"/>
            <a:ext cx="4123944" cy="3017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Description</a:t>
            </a:r>
          </a:p>
        </p:txBody>
      </p:sp>
      <p:sp>
        <p:nvSpPr>
          <p:cNvPr id="8" name="Rectangle 7"/>
          <p:cNvSpPr/>
          <p:nvPr/>
        </p:nvSpPr>
        <p:spPr>
          <a:xfrm>
            <a:off x="4983480" y="1188720"/>
            <a:ext cx="64008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p:cNvSpPr txBox="1"/>
          <p:nvPr/>
        </p:nvSpPr>
        <p:spPr>
          <a:xfrm>
            <a:off x="5020056" y="1188720"/>
            <a:ext cx="60350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JEH</a:t>
            </a:r>
          </a:p>
        </p:txBody>
      </p:sp>
      <p:sp>
        <p:nvSpPr>
          <p:cNvPr id="10" name="Rectangle 9"/>
          <p:cNvSpPr/>
          <p:nvPr/>
        </p:nvSpPr>
        <p:spPr>
          <a:xfrm>
            <a:off x="5623560" y="1188720"/>
            <a:ext cx="105156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p:cNvSpPr txBox="1"/>
          <p:nvPr/>
        </p:nvSpPr>
        <p:spPr>
          <a:xfrm>
            <a:off x="5660136" y="1188720"/>
            <a:ext cx="101498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Coût HT</a:t>
            </a:r>
          </a:p>
        </p:txBody>
      </p:sp>
      <p:sp>
        <p:nvSpPr>
          <p:cNvPr id="12" name="Rectangle 11"/>
          <p:cNvSpPr/>
          <p:nvPr/>
        </p:nvSpPr>
        <p:spPr>
          <a:xfrm>
            <a:off x="6675120" y="1188720"/>
            <a:ext cx="77724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p:cNvSpPr txBox="1"/>
          <p:nvPr/>
        </p:nvSpPr>
        <p:spPr>
          <a:xfrm>
            <a:off x="6711696" y="1188720"/>
            <a:ext cx="74066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TVA</a:t>
            </a:r>
          </a:p>
        </p:txBody>
      </p:sp>
      <p:sp>
        <p:nvSpPr>
          <p:cNvPr id="14" name="Rectangle 13"/>
          <p:cNvSpPr/>
          <p:nvPr/>
        </p:nvSpPr>
        <p:spPr>
          <a:xfrm>
            <a:off x="7452360" y="1188720"/>
            <a:ext cx="1005840" cy="3017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extBox 14"/>
          <p:cNvSpPr txBox="1"/>
          <p:nvPr/>
        </p:nvSpPr>
        <p:spPr>
          <a:xfrm>
            <a:off x="7488936" y="1188720"/>
            <a:ext cx="969264" cy="30175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Coût TTC</a:t>
            </a:r>
          </a:p>
        </p:txBody>
      </p:sp>
      <p:sp>
        <p:nvSpPr>
          <p:cNvPr id="16" name="Rectangle 15"/>
          <p:cNvSpPr/>
          <p:nvPr/>
        </p:nvSpPr>
        <p:spPr>
          <a:xfrm>
            <a:off x="228600" y="1490472"/>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p:cNvSpPr txBox="1"/>
          <p:nvPr/>
        </p:nvSpPr>
        <p:spPr>
          <a:xfrm>
            <a:off x="274320" y="1517904"/>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P1.1</a:t>
            </a:r>
          </a:p>
        </p:txBody>
      </p:sp>
      <p:sp>
        <p:nvSpPr>
          <p:cNvPr id="18" name="Rectangle 17"/>
          <p:cNvSpPr/>
          <p:nvPr/>
        </p:nvSpPr>
        <p:spPr>
          <a:xfrm>
            <a:off x="822960" y="1490472"/>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p:cNvSpPr txBox="1"/>
          <p:nvPr/>
        </p:nvSpPr>
        <p:spPr>
          <a:xfrm>
            <a:off x="868680" y="1517904"/>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Cadrage &amp; configuration WebVisu</a:t>
            </a:r>
          </a:p>
        </p:txBody>
      </p:sp>
      <p:sp>
        <p:nvSpPr>
          <p:cNvPr id="20" name="Rectangle 19"/>
          <p:cNvSpPr/>
          <p:nvPr/>
        </p:nvSpPr>
        <p:spPr>
          <a:xfrm>
            <a:off x="4983480" y="1490472"/>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p:cNvSpPr txBox="1"/>
          <p:nvPr/>
        </p:nvSpPr>
        <p:spPr>
          <a:xfrm>
            <a:off x="5029200" y="1517904"/>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a:t>
            </a:r>
          </a:p>
        </p:txBody>
      </p:sp>
      <p:sp>
        <p:nvSpPr>
          <p:cNvPr id="22" name="Rectangle 21"/>
          <p:cNvSpPr/>
          <p:nvPr/>
        </p:nvSpPr>
        <p:spPr>
          <a:xfrm>
            <a:off x="5623560" y="1490472"/>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TextBox 22"/>
          <p:cNvSpPr txBox="1"/>
          <p:nvPr/>
        </p:nvSpPr>
        <p:spPr>
          <a:xfrm>
            <a:off x="5669280" y="1517904"/>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840 €</a:t>
            </a:r>
          </a:p>
        </p:txBody>
      </p:sp>
      <p:sp>
        <p:nvSpPr>
          <p:cNvPr id="24" name="Rectangle 23"/>
          <p:cNvSpPr/>
          <p:nvPr/>
        </p:nvSpPr>
        <p:spPr>
          <a:xfrm>
            <a:off x="6675120" y="1490472"/>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TextBox 24"/>
          <p:cNvSpPr txBox="1"/>
          <p:nvPr/>
        </p:nvSpPr>
        <p:spPr>
          <a:xfrm>
            <a:off x="6720840" y="1517904"/>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168 €</a:t>
            </a:r>
          </a:p>
        </p:txBody>
      </p:sp>
      <p:sp>
        <p:nvSpPr>
          <p:cNvPr id="26" name="Rectangle 25"/>
          <p:cNvSpPr/>
          <p:nvPr/>
        </p:nvSpPr>
        <p:spPr>
          <a:xfrm>
            <a:off x="7452360" y="1490472"/>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p:cNvSpPr txBox="1"/>
          <p:nvPr/>
        </p:nvSpPr>
        <p:spPr>
          <a:xfrm>
            <a:off x="7498080" y="1517904"/>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1 008 €</a:t>
            </a:r>
          </a:p>
        </p:txBody>
      </p:sp>
      <p:sp>
        <p:nvSpPr>
          <p:cNvPr id="28" name="Rectangle 27"/>
          <p:cNvSpPr/>
          <p:nvPr/>
        </p:nvSpPr>
        <p:spPr>
          <a:xfrm>
            <a:off x="228600" y="1815084"/>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TextBox 28"/>
          <p:cNvSpPr txBox="1"/>
          <p:nvPr/>
        </p:nvSpPr>
        <p:spPr>
          <a:xfrm>
            <a:off x="274320" y="1842516"/>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P1.2</a:t>
            </a:r>
          </a:p>
        </p:txBody>
      </p:sp>
      <p:sp>
        <p:nvSpPr>
          <p:cNvPr id="30" name="Rectangle 29"/>
          <p:cNvSpPr/>
          <p:nvPr/>
        </p:nvSpPr>
        <p:spPr>
          <a:xfrm>
            <a:off x="822960" y="1815084"/>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0"/>
          <p:cNvSpPr txBox="1"/>
          <p:nvPr/>
        </p:nvSpPr>
        <p:spPr>
          <a:xfrm>
            <a:off x="868680" y="1842516"/>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Couche de données &amp; connexion de l'app</a:t>
            </a:r>
          </a:p>
        </p:txBody>
      </p:sp>
      <p:sp>
        <p:nvSpPr>
          <p:cNvPr id="32" name="Rectangle 31"/>
          <p:cNvSpPr/>
          <p:nvPr/>
        </p:nvSpPr>
        <p:spPr>
          <a:xfrm>
            <a:off x="4983480" y="1815084"/>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Box 32"/>
          <p:cNvSpPr txBox="1"/>
          <p:nvPr/>
        </p:nvSpPr>
        <p:spPr>
          <a:xfrm>
            <a:off x="5029200" y="1842516"/>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a:t>
            </a:r>
          </a:p>
        </p:txBody>
      </p:sp>
      <p:sp>
        <p:nvSpPr>
          <p:cNvPr id="34" name="Rectangle 33"/>
          <p:cNvSpPr/>
          <p:nvPr/>
        </p:nvSpPr>
        <p:spPr>
          <a:xfrm>
            <a:off x="5623560" y="1815084"/>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p:cNvSpPr txBox="1"/>
          <p:nvPr/>
        </p:nvSpPr>
        <p:spPr>
          <a:xfrm>
            <a:off x="5669280" y="1842516"/>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1 260 €</a:t>
            </a:r>
          </a:p>
        </p:txBody>
      </p:sp>
      <p:sp>
        <p:nvSpPr>
          <p:cNvPr id="36" name="Rectangle 35"/>
          <p:cNvSpPr/>
          <p:nvPr/>
        </p:nvSpPr>
        <p:spPr>
          <a:xfrm>
            <a:off x="6675120" y="1815084"/>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TextBox 36"/>
          <p:cNvSpPr txBox="1"/>
          <p:nvPr/>
        </p:nvSpPr>
        <p:spPr>
          <a:xfrm>
            <a:off x="6720840" y="1842516"/>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252 €</a:t>
            </a:r>
          </a:p>
        </p:txBody>
      </p:sp>
      <p:sp>
        <p:nvSpPr>
          <p:cNvPr id="38" name="Rectangle 37"/>
          <p:cNvSpPr/>
          <p:nvPr/>
        </p:nvSpPr>
        <p:spPr>
          <a:xfrm>
            <a:off x="7452360" y="1815084"/>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TextBox 38"/>
          <p:cNvSpPr txBox="1"/>
          <p:nvPr/>
        </p:nvSpPr>
        <p:spPr>
          <a:xfrm>
            <a:off x="7498080" y="1842516"/>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1 512 €</a:t>
            </a:r>
          </a:p>
        </p:txBody>
      </p:sp>
      <p:sp>
        <p:nvSpPr>
          <p:cNvPr id="40" name="Rectangle 39"/>
          <p:cNvSpPr/>
          <p:nvPr/>
        </p:nvSpPr>
        <p:spPr>
          <a:xfrm>
            <a:off x="228600" y="-9999999"/>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extBox 40"/>
          <p:cNvSpPr txBox="1"/>
          <p:nvPr/>
        </p:nvSpPr>
        <p:spPr>
          <a:xfrm>
            <a:off x="274320" y="-9999999"/>
            <a:ext cx="54864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90CAF9"/>
                </a:solidFill>
                <a:effectLst/>
                <a:uLnTx/>
                <a:uFillTx/>
                <a:latin typeface="Calibri"/>
                <a:ea typeface="+mn-ea"/>
                <a:cs typeface="+mn-cs"/>
              </a:rPr>
              <a:t>P1.3</a:t>
            </a:r>
          </a:p>
        </p:txBody>
      </p:sp>
      <p:sp>
        <p:nvSpPr>
          <p:cNvPr id="42" name="Rectangle 41"/>
          <p:cNvSpPr/>
          <p:nvPr/>
        </p:nvSpPr>
        <p:spPr>
          <a:xfrm>
            <a:off x="822960" y="-9999999"/>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TextBox 42"/>
          <p:cNvSpPr txBox="1"/>
          <p:nvPr/>
        </p:nvSpPr>
        <p:spPr>
          <a:xfrm>
            <a:off x="868680" y="-9999999"/>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Tableau de bord &amp; visualisation (MVP)</a:t>
            </a:r>
          </a:p>
        </p:txBody>
      </p:sp>
      <p:sp>
        <p:nvSpPr>
          <p:cNvPr id="44" name="Rectangle 43"/>
          <p:cNvSpPr/>
          <p:nvPr/>
        </p:nvSpPr>
        <p:spPr>
          <a:xfrm>
            <a:off x="4983480" y="-9999999"/>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TextBox 44"/>
          <p:cNvSpPr txBox="1"/>
          <p:nvPr/>
        </p:nvSpPr>
        <p:spPr>
          <a:xfrm>
            <a:off x="5029200" y="-9999999"/>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2.25</a:t>
            </a:r>
          </a:p>
        </p:txBody>
      </p:sp>
      <p:sp>
        <p:nvSpPr>
          <p:cNvPr id="46" name="Rectangle 45"/>
          <p:cNvSpPr/>
          <p:nvPr/>
        </p:nvSpPr>
        <p:spPr>
          <a:xfrm>
            <a:off x="5623560" y="-9999999"/>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TextBox 46"/>
          <p:cNvSpPr txBox="1"/>
          <p:nvPr/>
        </p:nvSpPr>
        <p:spPr>
          <a:xfrm>
            <a:off x="5669280" y="-9999999"/>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945 €</a:t>
            </a:r>
          </a:p>
        </p:txBody>
      </p:sp>
      <p:sp>
        <p:nvSpPr>
          <p:cNvPr id="48" name="Rectangle 47"/>
          <p:cNvSpPr/>
          <p:nvPr/>
        </p:nvSpPr>
        <p:spPr>
          <a:xfrm>
            <a:off x="6675120" y="-9999999"/>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TextBox 48"/>
          <p:cNvSpPr txBox="1"/>
          <p:nvPr/>
        </p:nvSpPr>
        <p:spPr>
          <a:xfrm>
            <a:off x="6720840" y="-9999999"/>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189 €</a:t>
            </a:r>
          </a:p>
        </p:txBody>
      </p:sp>
      <p:sp>
        <p:nvSpPr>
          <p:cNvPr id="50" name="Rectangle 49"/>
          <p:cNvSpPr/>
          <p:nvPr/>
        </p:nvSpPr>
        <p:spPr>
          <a:xfrm>
            <a:off x="7452360" y="-9999999"/>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TextBox 50"/>
          <p:cNvSpPr txBox="1"/>
          <p:nvPr/>
        </p:nvSpPr>
        <p:spPr>
          <a:xfrm>
            <a:off x="7498080" y="-9999999"/>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1 134 €</a:t>
            </a:r>
          </a:p>
        </p:txBody>
      </p:sp>
      <p:sp>
        <p:nvSpPr>
          <p:cNvPr id="52" name="Rectangle 51"/>
          <p:cNvSpPr/>
          <p:nvPr/>
        </p:nvSpPr>
        <p:spPr>
          <a:xfrm>
            <a:off x="228600" y="2127084"/>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TextBox 52"/>
          <p:cNvSpPr txBox="1"/>
          <p:nvPr/>
        </p:nvSpPr>
        <p:spPr>
          <a:xfrm>
            <a:off x="274320" y="2154516"/>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90CAF9"/>
                </a:solidFill>
                <a:effectLst/>
                <a:uLnTx/>
                <a:uFillTx/>
                <a:latin typeface="Calibri"/>
                <a:ea typeface="+mn-ea"/>
                <a:cs typeface="+mn-cs"/>
              </a:rPr>
              <a:t>P1.</a:t>
            </a:r>
            <a:r>
              <a:rPr kumimoji="0" lang="fr-FR" sz="1000" b="1" i="0" u="none" strike="noStrike" kern="1200" cap="none" spc="0" normalizeH="0" baseline="0" noProof="0" dirty="0">
                <a:ln>
                  <a:noFill/>
                </a:ln>
                <a:solidFill>
                  <a:srgbClr val="90CAF9"/>
                </a:solidFill>
                <a:effectLst/>
                <a:uLnTx/>
                <a:uFillTx/>
                <a:latin typeface="Calibri"/>
                <a:ea typeface="+mn-ea"/>
                <a:cs typeface="+mn-cs"/>
              </a:rPr>
              <a:t>3</a:t>
            </a:r>
            <a:endParaRPr kumimoji="0" sz="1000" b="1" i="0" u="none" strike="noStrike" kern="1200" cap="none" spc="0" normalizeH="0" baseline="0" noProof="0" dirty="0">
              <a:ln>
                <a:noFill/>
              </a:ln>
              <a:solidFill>
                <a:srgbClr val="90CAF9"/>
              </a:solidFill>
              <a:effectLst/>
              <a:uLnTx/>
              <a:uFillTx/>
              <a:latin typeface="Calibri"/>
              <a:ea typeface="+mn-ea"/>
              <a:cs typeface="+mn-cs"/>
            </a:endParaRPr>
          </a:p>
        </p:txBody>
      </p:sp>
      <p:sp>
        <p:nvSpPr>
          <p:cNvPr id="54" name="Rectangle 53"/>
          <p:cNvSpPr/>
          <p:nvPr/>
        </p:nvSpPr>
        <p:spPr>
          <a:xfrm>
            <a:off x="822960" y="2127084"/>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TextBox 54"/>
          <p:cNvSpPr txBox="1"/>
          <p:nvPr/>
        </p:nvSpPr>
        <p:spPr>
          <a:xfrm>
            <a:off x="868680" y="2154516"/>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Pilotage, garde-fous &amp; app mobile</a:t>
            </a:r>
          </a:p>
        </p:txBody>
      </p:sp>
      <p:sp>
        <p:nvSpPr>
          <p:cNvPr id="56" name="Rectangle 55"/>
          <p:cNvSpPr/>
          <p:nvPr/>
        </p:nvSpPr>
        <p:spPr>
          <a:xfrm>
            <a:off x="4983480" y="2127084"/>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TextBox 56"/>
          <p:cNvSpPr txBox="1"/>
          <p:nvPr/>
        </p:nvSpPr>
        <p:spPr>
          <a:xfrm>
            <a:off x="5029200" y="2154516"/>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2.75</a:t>
            </a:r>
          </a:p>
        </p:txBody>
      </p:sp>
      <p:sp>
        <p:nvSpPr>
          <p:cNvPr id="58" name="Rectangle 57"/>
          <p:cNvSpPr/>
          <p:nvPr/>
        </p:nvSpPr>
        <p:spPr>
          <a:xfrm>
            <a:off x="5623560" y="2127084"/>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TextBox 58"/>
          <p:cNvSpPr txBox="1"/>
          <p:nvPr/>
        </p:nvSpPr>
        <p:spPr>
          <a:xfrm>
            <a:off x="5669280" y="2154516"/>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1 155 €</a:t>
            </a:r>
          </a:p>
        </p:txBody>
      </p:sp>
      <p:sp>
        <p:nvSpPr>
          <p:cNvPr id="60" name="Rectangle 59"/>
          <p:cNvSpPr/>
          <p:nvPr/>
        </p:nvSpPr>
        <p:spPr>
          <a:xfrm>
            <a:off x="6675120" y="2127084"/>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TextBox 60"/>
          <p:cNvSpPr txBox="1"/>
          <p:nvPr/>
        </p:nvSpPr>
        <p:spPr>
          <a:xfrm>
            <a:off x="6720840" y="2154516"/>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231 €</a:t>
            </a:r>
          </a:p>
        </p:txBody>
      </p:sp>
      <p:sp>
        <p:nvSpPr>
          <p:cNvPr id="62" name="Rectangle 61"/>
          <p:cNvSpPr/>
          <p:nvPr/>
        </p:nvSpPr>
        <p:spPr>
          <a:xfrm>
            <a:off x="7452360" y="2127084"/>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TextBox 62"/>
          <p:cNvSpPr txBox="1"/>
          <p:nvPr/>
        </p:nvSpPr>
        <p:spPr>
          <a:xfrm>
            <a:off x="7498080" y="2154516"/>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1 386 €</a:t>
            </a:r>
          </a:p>
        </p:txBody>
      </p:sp>
      <p:sp>
        <p:nvSpPr>
          <p:cNvPr id="64" name="Rectangle 63"/>
          <p:cNvSpPr/>
          <p:nvPr/>
        </p:nvSpPr>
        <p:spPr>
          <a:xfrm>
            <a:off x="228600" y="2451696"/>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TextBox 64"/>
          <p:cNvSpPr txBox="1"/>
          <p:nvPr/>
        </p:nvSpPr>
        <p:spPr>
          <a:xfrm>
            <a:off x="274320" y="2479128"/>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90CAF9"/>
                </a:solidFill>
                <a:effectLst/>
                <a:uLnTx/>
                <a:uFillTx/>
                <a:latin typeface="Calibri"/>
                <a:ea typeface="+mn-ea"/>
                <a:cs typeface="+mn-cs"/>
              </a:rPr>
              <a:t>P1.</a:t>
            </a:r>
            <a:r>
              <a:rPr kumimoji="0" lang="fr-FR" sz="1000" b="1" i="0" u="none" strike="noStrike" kern="1200" cap="none" spc="0" normalizeH="0" baseline="0" noProof="0" dirty="0">
                <a:ln>
                  <a:noFill/>
                </a:ln>
                <a:solidFill>
                  <a:srgbClr val="90CAF9"/>
                </a:solidFill>
                <a:effectLst/>
                <a:uLnTx/>
                <a:uFillTx/>
                <a:latin typeface="Calibri"/>
                <a:ea typeface="+mn-ea"/>
                <a:cs typeface="+mn-cs"/>
              </a:rPr>
              <a:t>4</a:t>
            </a:r>
            <a:endParaRPr kumimoji="0" sz="1000" b="1" i="0" u="none" strike="noStrike" kern="1200" cap="none" spc="0" normalizeH="0" baseline="0" noProof="0" dirty="0">
              <a:ln>
                <a:noFill/>
              </a:ln>
              <a:solidFill>
                <a:srgbClr val="90CAF9"/>
              </a:solidFill>
              <a:effectLst/>
              <a:uLnTx/>
              <a:uFillTx/>
              <a:latin typeface="Calibri"/>
              <a:ea typeface="+mn-ea"/>
              <a:cs typeface="+mn-cs"/>
            </a:endParaRPr>
          </a:p>
        </p:txBody>
      </p:sp>
      <p:sp>
        <p:nvSpPr>
          <p:cNvPr id="66" name="Rectangle 65"/>
          <p:cNvSpPr/>
          <p:nvPr/>
        </p:nvSpPr>
        <p:spPr>
          <a:xfrm>
            <a:off x="822960" y="2451696"/>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TextBox 66"/>
          <p:cNvSpPr txBox="1"/>
          <p:nvPr/>
        </p:nvSpPr>
        <p:spPr>
          <a:xfrm>
            <a:off x="868680" y="2479128"/>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Tests, déploiement &amp; documentation</a:t>
            </a:r>
          </a:p>
        </p:txBody>
      </p:sp>
      <p:sp>
        <p:nvSpPr>
          <p:cNvPr id="68" name="Rectangle 67"/>
          <p:cNvSpPr/>
          <p:nvPr/>
        </p:nvSpPr>
        <p:spPr>
          <a:xfrm>
            <a:off x="4983480" y="2451696"/>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TextBox 68"/>
          <p:cNvSpPr txBox="1"/>
          <p:nvPr/>
        </p:nvSpPr>
        <p:spPr>
          <a:xfrm>
            <a:off x="5029200" y="2479128"/>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1.75</a:t>
            </a:r>
          </a:p>
        </p:txBody>
      </p:sp>
      <p:sp>
        <p:nvSpPr>
          <p:cNvPr id="70" name="Rectangle 69"/>
          <p:cNvSpPr/>
          <p:nvPr/>
        </p:nvSpPr>
        <p:spPr>
          <a:xfrm>
            <a:off x="5623560" y="2451696"/>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TextBox 70"/>
          <p:cNvSpPr txBox="1"/>
          <p:nvPr/>
        </p:nvSpPr>
        <p:spPr>
          <a:xfrm>
            <a:off x="5669280" y="2479128"/>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735 €</a:t>
            </a:r>
          </a:p>
        </p:txBody>
      </p:sp>
      <p:sp>
        <p:nvSpPr>
          <p:cNvPr id="72" name="Rectangle 71"/>
          <p:cNvSpPr/>
          <p:nvPr/>
        </p:nvSpPr>
        <p:spPr>
          <a:xfrm>
            <a:off x="6675120" y="2451696"/>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TextBox 72"/>
          <p:cNvSpPr txBox="1"/>
          <p:nvPr/>
        </p:nvSpPr>
        <p:spPr>
          <a:xfrm>
            <a:off x="6720840" y="2479128"/>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147 €</a:t>
            </a:r>
          </a:p>
        </p:txBody>
      </p:sp>
      <p:sp>
        <p:nvSpPr>
          <p:cNvPr id="74" name="Rectangle 73"/>
          <p:cNvSpPr/>
          <p:nvPr/>
        </p:nvSpPr>
        <p:spPr>
          <a:xfrm>
            <a:off x="7452360" y="2451696"/>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TextBox 74"/>
          <p:cNvSpPr txBox="1"/>
          <p:nvPr/>
        </p:nvSpPr>
        <p:spPr>
          <a:xfrm>
            <a:off x="7498080" y="2479128"/>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882 €</a:t>
            </a:r>
          </a:p>
        </p:txBody>
      </p:sp>
      <p:sp>
        <p:nvSpPr>
          <p:cNvPr id="76" name="Rectangle 75"/>
          <p:cNvSpPr/>
          <p:nvPr/>
        </p:nvSpPr>
        <p:spPr>
          <a:xfrm>
            <a:off x="228600" y="-9999999"/>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TextBox 76"/>
          <p:cNvSpPr txBox="1"/>
          <p:nvPr/>
        </p:nvSpPr>
        <p:spPr>
          <a:xfrm>
            <a:off x="274320" y="-9999999"/>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1</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78" name="Rectangle 77"/>
          <p:cNvSpPr/>
          <p:nvPr/>
        </p:nvSpPr>
        <p:spPr>
          <a:xfrm>
            <a:off x="822960" y="-9999999"/>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TextBox 78"/>
          <p:cNvSpPr txBox="1"/>
          <p:nvPr/>
        </p:nvSpPr>
        <p:spPr>
          <a:xfrm>
            <a:off x="868680" y="-9999999"/>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Structuration de l'Offre de Services</a:t>
            </a:r>
          </a:p>
        </p:txBody>
      </p:sp>
      <p:sp>
        <p:nvSpPr>
          <p:cNvPr id="80" name="Rectangle 79"/>
          <p:cNvSpPr/>
          <p:nvPr/>
        </p:nvSpPr>
        <p:spPr>
          <a:xfrm>
            <a:off x="4983480" y="-9999999"/>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TextBox 80"/>
          <p:cNvSpPr txBox="1"/>
          <p:nvPr/>
        </p:nvSpPr>
        <p:spPr>
          <a:xfrm>
            <a:off x="5029200" y="-9999999"/>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2.75</a:t>
            </a:r>
          </a:p>
        </p:txBody>
      </p:sp>
      <p:sp>
        <p:nvSpPr>
          <p:cNvPr id="82" name="Rectangle 81"/>
          <p:cNvSpPr/>
          <p:nvPr/>
        </p:nvSpPr>
        <p:spPr>
          <a:xfrm>
            <a:off x="5623560" y="-9999999"/>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TextBox 82"/>
          <p:cNvSpPr txBox="1"/>
          <p:nvPr/>
        </p:nvSpPr>
        <p:spPr>
          <a:xfrm>
            <a:off x="5669280" y="-9999999"/>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1 155 €</a:t>
            </a:r>
          </a:p>
        </p:txBody>
      </p:sp>
      <p:sp>
        <p:nvSpPr>
          <p:cNvPr id="84" name="Rectangle 83"/>
          <p:cNvSpPr/>
          <p:nvPr/>
        </p:nvSpPr>
        <p:spPr>
          <a:xfrm>
            <a:off x="6675120" y="-9999999"/>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TextBox 84"/>
          <p:cNvSpPr txBox="1"/>
          <p:nvPr/>
        </p:nvSpPr>
        <p:spPr>
          <a:xfrm>
            <a:off x="6720840" y="-9999999"/>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231 €</a:t>
            </a:r>
          </a:p>
        </p:txBody>
      </p:sp>
      <p:sp>
        <p:nvSpPr>
          <p:cNvPr id="86" name="Rectangle 85"/>
          <p:cNvSpPr/>
          <p:nvPr/>
        </p:nvSpPr>
        <p:spPr>
          <a:xfrm>
            <a:off x="7452360" y="-9999999"/>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TextBox 86"/>
          <p:cNvSpPr txBox="1"/>
          <p:nvPr/>
        </p:nvSpPr>
        <p:spPr>
          <a:xfrm>
            <a:off x="7498080" y="-9999999"/>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1 386 €</a:t>
            </a:r>
          </a:p>
        </p:txBody>
      </p:sp>
      <p:sp>
        <p:nvSpPr>
          <p:cNvPr id="88" name="Rectangle 87"/>
          <p:cNvSpPr/>
          <p:nvPr/>
        </p:nvSpPr>
        <p:spPr>
          <a:xfrm>
            <a:off x="228600" y="-9999999"/>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TextBox 88"/>
          <p:cNvSpPr txBox="1"/>
          <p:nvPr/>
        </p:nvSpPr>
        <p:spPr>
          <a:xfrm>
            <a:off x="274320" y="-9999999"/>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2</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90" name="Rectangle 89"/>
          <p:cNvSpPr/>
          <p:nvPr/>
        </p:nvSpPr>
        <p:spPr>
          <a:xfrm>
            <a:off x="822960" y="-9999999"/>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TextBox 90"/>
          <p:cNvSpPr txBox="1"/>
          <p:nvPr/>
        </p:nvSpPr>
        <p:spPr>
          <a:xfrm>
            <a:off x="868680" y="-9999999"/>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Identité Visuelle &amp; Charte Graphique</a:t>
            </a:r>
          </a:p>
        </p:txBody>
      </p:sp>
      <p:sp>
        <p:nvSpPr>
          <p:cNvPr id="92" name="Rectangle 91"/>
          <p:cNvSpPr/>
          <p:nvPr/>
        </p:nvSpPr>
        <p:spPr>
          <a:xfrm>
            <a:off x="4983480" y="-9999999"/>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TextBox 92"/>
          <p:cNvSpPr txBox="1"/>
          <p:nvPr/>
        </p:nvSpPr>
        <p:spPr>
          <a:xfrm>
            <a:off x="5029200" y="-9999999"/>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5</a:t>
            </a:r>
          </a:p>
        </p:txBody>
      </p:sp>
      <p:sp>
        <p:nvSpPr>
          <p:cNvPr id="94" name="Rectangle 93"/>
          <p:cNvSpPr/>
          <p:nvPr/>
        </p:nvSpPr>
        <p:spPr>
          <a:xfrm>
            <a:off x="5623560" y="-9999999"/>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TextBox 94"/>
          <p:cNvSpPr txBox="1"/>
          <p:nvPr/>
        </p:nvSpPr>
        <p:spPr>
          <a:xfrm>
            <a:off x="5669280" y="-9999999"/>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2 100 €</a:t>
            </a:r>
          </a:p>
        </p:txBody>
      </p:sp>
      <p:sp>
        <p:nvSpPr>
          <p:cNvPr id="96" name="Rectangle 95"/>
          <p:cNvSpPr/>
          <p:nvPr/>
        </p:nvSpPr>
        <p:spPr>
          <a:xfrm>
            <a:off x="6675120" y="-9999999"/>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TextBox 96"/>
          <p:cNvSpPr txBox="1"/>
          <p:nvPr/>
        </p:nvSpPr>
        <p:spPr>
          <a:xfrm>
            <a:off x="6720840" y="-9999999"/>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420 €</a:t>
            </a:r>
          </a:p>
        </p:txBody>
      </p:sp>
      <p:sp>
        <p:nvSpPr>
          <p:cNvPr id="98" name="Rectangle 97"/>
          <p:cNvSpPr/>
          <p:nvPr/>
        </p:nvSpPr>
        <p:spPr>
          <a:xfrm>
            <a:off x="7452360" y="-9999999"/>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TextBox 98"/>
          <p:cNvSpPr txBox="1"/>
          <p:nvPr/>
        </p:nvSpPr>
        <p:spPr>
          <a:xfrm>
            <a:off x="7498080" y="-9999999"/>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2 520 €</a:t>
            </a:r>
          </a:p>
        </p:txBody>
      </p:sp>
      <p:sp>
        <p:nvSpPr>
          <p:cNvPr id="100" name="Rectangle 99"/>
          <p:cNvSpPr/>
          <p:nvPr/>
        </p:nvSpPr>
        <p:spPr>
          <a:xfrm>
            <a:off x="228600" y="-9999999"/>
            <a:ext cx="5943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TextBox 100"/>
          <p:cNvSpPr txBox="1"/>
          <p:nvPr/>
        </p:nvSpPr>
        <p:spPr>
          <a:xfrm>
            <a:off x="274320" y="-9999999"/>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3</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102" name="Rectangle 101"/>
          <p:cNvSpPr/>
          <p:nvPr/>
        </p:nvSpPr>
        <p:spPr>
          <a:xfrm>
            <a:off x="822960" y="-9999999"/>
            <a:ext cx="416052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 name="TextBox 102"/>
          <p:cNvSpPr txBox="1"/>
          <p:nvPr/>
        </p:nvSpPr>
        <p:spPr>
          <a:xfrm>
            <a:off x="868680" y="-9999999"/>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Création du Site Vitrine &amp; Contenu</a:t>
            </a:r>
          </a:p>
        </p:txBody>
      </p:sp>
      <p:sp>
        <p:nvSpPr>
          <p:cNvPr id="104" name="Rectangle 103"/>
          <p:cNvSpPr/>
          <p:nvPr/>
        </p:nvSpPr>
        <p:spPr>
          <a:xfrm>
            <a:off x="4983480" y="-9999999"/>
            <a:ext cx="64008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TextBox 104"/>
          <p:cNvSpPr txBox="1"/>
          <p:nvPr/>
        </p:nvSpPr>
        <p:spPr>
          <a:xfrm>
            <a:off x="5029200" y="-9999999"/>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4.5</a:t>
            </a:r>
          </a:p>
        </p:txBody>
      </p:sp>
      <p:sp>
        <p:nvSpPr>
          <p:cNvPr id="106" name="Rectangle 105"/>
          <p:cNvSpPr/>
          <p:nvPr/>
        </p:nvSpPr>
        <p:spPr>
          <a:xfrm>
            <a:off x="5623560" y="-9999999"/>
            <a:ext cx="105156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 name="TextBox 106"/>
          <p:cNvSpPr txBox="1"/>
          <p:nvPr/>
        </p:nvSpPr>
        <p:spPr>
          <a:xfrm>
            <a:off x="5669280" y="-9999999"/>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1 890 €</a:t>
            </a:r>
          </a:p>
        </p:txBody>
      </p:sp>
      <p:sp>
        <p:nvSpPr>
          <p:cNvPr id="108" name="Rectangle 107"/>
          <p:cNvSpPr/>
          <p:nvPr/>
        </p:nvSpPr>
        <p:spPr>
          <a:xfrm>
            <a:off x="6675120" y="-9999999"/>
            <a:ext cx="7772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9" name="TextBox 108"/>
          <p:cNvSpPr txBox="1"/>
          <p:nvPr/>
        </p:nvSpPr>
        <p:spPr>
          <a:xfrm>
            <a:off x="6720840" y="-9999999"/>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378 €</a:t>
            </a:r>
          </a:p>
        </p:txBody>
      </p:sp>
      <p:sp>
        <p:nvSpPr>
          <p:cNvPr id="110" name="Rectangle 109"/>
          <p:cNvSpPr/>
          <p:nvPr/>
        </p:nvSpPr>
        <p:spPr>
          <a:xfrm>
            <a:off x="7452360" y="-9999999"/>
            <a:ext cx="1005840" cy="324612"/>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TextBox 110"/>
          <p:cNvSpPr txBox="1"/>
          <p:nvPr/>
        </p:nvSpPr>
        <p:spPr>
          <a:xfrm>
            <a:off x="7498080" y="-9999999"/>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2 268 €</a:t>
            </a:r>
          </a:p>
        </p:txBody>
      </p:sp>
      <p:sp>
        <p:nvSpPr>
          <p:cNvPr id="112" name="Rectangle 111"/>
          <p:cNvSpPr/>
          <p:nvPr/>
        </p:nvSpPr>
        <p:spPr>
          <a:xfrm>
            <a:off x="228600" y="-9999999"/>
            <a:ext cx="5943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TextBox 112"/>
          <p:cNvSpPr txBox="1"/>
          <p:nvPr/>
        </p:nvSpPr>
        <p:spPr>
          <a:xfrm>
            <a:off x="274320" y="-9999999"/>
            <a:ext cx="54864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dirty="0">
                <a:ln>
                  <a:noFill/>
                </a:ln>
                <a:solidFill>
                  <a:srgbClr val="81C784"/>
                </a:solidFill>
                <a:effectLst/>
                <a:uLnTx/>
                <a:uFillTx/>
                <a:latin typeface="Calibri"/>
                <a:ea typeface="+mn-ea"/>
                <a:cs typeface="+mn-cs"/>
              </a:rPr>
              <a:t>P2.</a:t>
            </a:r>
            <a:r>
              <a:rPr kumimoji="0" lang="fr-FR" sz="1000" b="1" i="0" u="none" strike="noStrike" kern="1200" cap="none" spc="0" normalizeH="0" baseline="0" noProof="0" dirty="0">
                <a:ln>
                  <a:noFill/>
                </a:ln>
                <a:solidFill>
                  <a:srgbClr val="81C784"/>
                </a:solidFill>
                <a:effectLst/>
                <a:uLnTx/>
                <a:uFillTx/>
                <a:latin typeface="Calibri"/>
                <a:ea typeface="+mn-ea"/>
                <a:cs typeface="+mn-cs"/>
              </a:rPr>
              <a:t>4</a:t>
            </a:r>
            <a:endParaRPr kumimoji="0" sz="1000" b="1" i="0" u="none" strike="noStrike" kern="1200" cap="none" spc="0" normalizeH="0" baseline="0" noProof="0" dirty="0">
              <a:ln>
                <a:noFill/>
              </a:ln>
              <a:solidFill>
                <a:srgbClr val="81C784"/>
              </a:solidFill>
              <a:effectLst/>
              <a:uLnTx/>
              <a:uFillTx/>
              <a:latin typeface="Calibri"/>
              <a:ea typeface="+mn-ea"/>
              <a:cs typeface="+mn-cs"/>
            </a:endParaRPr>
          </a:p>
        </p:txBody>
      </p:sp>
      <p:sp>
        <p:nvSpPr>
          <p:cNvPr id="114" name="Rectangle 113"/>
          <p:cNvSpPr/>
          <p:nvPr/>
        </p:nvSpPr>
        <p:spPr>
          <a:xfrm>
            <a:off x="822960" y="-9999999"/>
            <a:ext cx="416052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TextBox 114"/>
          <p:cNvSpPr txBox="1"/>
          <p:nvPr/>
        </p:nvSpPr>
        <p:spPr>
          <a:xfrm>
            <a:off x="868680" y="-9999999"/>
            <a:ext cx="4114800" cy="2971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FFFFFF"/>
                </a:solidFill>
                <a:effectLst/>
                <a:uLnTx/>
                <a:uFillTx/>
                <a:latin typeface="Calibri"/>
                <a:ea typeface="+mn-ea"/>
                <a:cs typeface="+mn-cs"/>
              </a:rPr>
              <a:t>Kit de Vente &amp; Stratégie de Lancement</a:t>
            </a:r>
          </a:p>
        </p:txBody>
      </p:sp>
      <p:sp>
        <p:nvSpPr>
          <p:cNvPr id="116" name="Rectangle 115"/>
          <p:cNvSpPr/>
          <p:nvPr/>
        </p:nvSpPr>
        <p:spPr>
          <a:xfrm>
            <a:off x="4983480" y="-9999999"/>
            <a:ext cx="64008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7" name="TextBox 116"/>
          <p:cNvSpPr txBox="1"/>
          <p:nvPr/>
        </p:nvSpPr>
        <p:spPr>
          <a:xfrm>
            <a:off x="5029200" y="-9999999"/>
            <a:ext cx="59436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0.5</a:t>
            </a:r>
          </a:p>
        </p:txBody>
      </p:sp>
      <p:sp>
        <p:nvSpPr>
          <p:cNvPr id="118" name="Rectangle 117"/>
          <p:cNvSpPr/>
          <p:nvPr/>
        </p:nvSpPr>
        <p:spPr>
          <a:xfrm>
            <a:off x="5623560" y="-9999999"/>
            <a:ext cx="105156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TextBox 118"/>
          <p:cNvSpPr txBox="1"/>
          <p:nvPr/>
        </p:nvSpPr>
        <p:spPr>
          <a:xfrm>
            <a:off x="5669280" y="-9999999"/>
            <a:ext cx="100584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210 €</a:t>
            </a:r>
          </a:p>
        </p:txBody>
      </p:sp>
      <p:sp>
        <p:nvSpPr>
          <p:cNvPr id="120" name="Rectangle 119"/>
          <p:cNvSpPr/>
          <p:nvPr/>
        </p:nvSpPr>
        <p:spPr>
          <a:xfrm>
            <a:off x="6675120" y="-9999999"/>
            <a:ext cx="7772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TextBox 120"/>
          <p:cNvSpPr txBox="1"/>
          <p:nvPr/>
        </p:nvSpPr>
        <p:spPr>
          <a:xfrm>
            <a:off x="6720840" y="-9999999"/>
            <a:ext cx="7315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42 €</a:t>
            </a:r>
          </a:p>
        </p:txBody>
      </p:sp>
      <p:sp>
        <p:nvSpPr>
          <p:cNvPr id="122" name="Rectangle 121"/>
          <p:cNvSpPr/>
          <p:nvPr/>
        </p:nvSpPr>
        <p:spPr>
          <a:xfrm>
            <a:off x="7452360" y="-9999999"/>
            <a:ext cx="1005840" cy="324612"/>
          </a:xfrm>
          <a:prstGeom prst="rect">
            <a:avLst/>
          </a:prstGeom>
          <a:solidFill>
            <a:srgbClr val="16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TextBox 122"/>
          <p:cNvSpPr txBox="1"/>
          <p:nvPr/>
        </p:nvSpPr>
        <p:spPr>
          <a:xfrm>
            <a:off x="7498080" y="-9999999"/>
            <a:ext cx="960120" cy="2971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0" normalizeH="0" baseline="0" noProof="0">
                <a:ln>
                  <a:noFill/>
                </a:ln>
                <a:solidFill>
                  <a:srgbClr val="FFFFFF"/>
                </a:solidFill>
                <a:effectLst/>
                <a:uLnTx/>
                <a:uFillTx/>
                <a:latin typeface="Calibri"/>
                <a:ea typeface="+mn-ea"/>
                <a:cs typeface="+mn-cs"/>
              </a:rPr>
              <a:t>252 €</a:t>
            </a:r>
          </a:p>
        </p:txBody>
      </p:sp>
      <p:sp>
        <p:nvSpPr>
          <p:cNvPr id="124" name="Rectangle 123"/>
          <p:cNvSpPr/>
          <p:nvPr/>
        </p:nvSpPr>
        <p:spPr>
          <a:xfrm>
            <a:off x="228600" y="4411980"/>
            <a:ext cx="539496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TextBox 124"/>
          <p:cNvSpPr txBox="1"/>
          <p:nvPr/>
        </p:nvSpPr>
        <p:spPr>
          <a:xfrm>
            <a:off x="274320" y="4439412"/>
            <a:ext cx="5349240" cy="32461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FFFFFF"/>
                </a:solidFill>
                <a:effectLst/>
                <a:uLnTx/>
                <a:uFillTx/>
                <a:latin typeface="Calibri"/>
                <a:ea typeface="+mn-ea"/>
                <a:cs typeface="+mn-cs"/>
              </a:rPr>
              <a:t>Total Phase 1 — 9.5 JEH (+ 200 € frais de structure)</a:t>
            </a:r>
          </a:p>
        </p:txBody>
      </p:sp>
      <p:sp>
        <p:nvSpPr>
          <p:cNvPr id="126" name="Rectangle 125"/>
          <p:cNvSpPr/>
          <p:nvPr/>
        </p:nvSpPr>
        <p:spPr>
          <a:xfrm>
            <a:off x="5623560" y="4411980"/>
            <a:ext cx="105156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TextBox 126"/>
          <p:cNvSpPr txBox="1"/>
          <p:nvPr/>
        </p:nvSpPr>
        <p:spPr>
          <a:xfrm>
            <a:off x="5623560" y="4439412"/>
            <a:ext cx="105156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3 990 €</a:t>
            </a:r>
          </a:p>
        </p:txBody>
      </p:sp>
      <p:sp>
        <p:nvSpPr>
          <p:cNvPr id="128" name="Rectangle 127"/>
          <p:cNvSpPr/>
          <p:nvPr/>
        </p:nvSpPr>
        <p:spPr>
          <a:xfrm>
            <a:off x="6675120" y="4411980"/>
            <a:ext cx="77724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TextBox 128"/>
          <p:cNvSpPr txBox="1"/>
          <p:nvPr/>
        </p:nvSpPr>
        <p:spPr>
          <a:xfrm>
            <a:off x="6675120" y="4439412"/>
            <a:ext cx="77724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798 €</a:t>
            </a:r>
          </a:p>
        </p:txBody>
      </p:sp>
      <p:sp>
        <p:nvSpPr>
          <p:cNvPr id="130" name="Rectangle 129"/>
          <p:cNvSpPr/>
          <p:nvPr/>
        </p:nvSpPr>
        <p:spPr>
          <a:xfrm>
            <a:off x="7452360" y="4411980"/>
            <a:ext cx="1005840" cy="324612"/>
          </a:xfrm>
          <a:prstGeom prst="rect">
            <a:avLst/>
          </a:prstGeom>
          <a:solidFill>
            <a:srgbClr val="0D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TextBox 130"/>
          <p:cNvSpPr txBox="1"/>
          <p:nvPr/>
        </p:nvSpPr>
        <p:spPr>
          <a:xfrm>
            <a:off x="7452360" y="4439412"/>
            <a:ext cx="1005840" cy="3246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3E0"/>
                </a:solidFill>
                <a:effectLst/>
                <a:uLnTx/>
                <a:uFillTx/>
                <a:latin typeface="Calibri"/>
                <a:ea typeface="+mn-ea"/>
                <a:cs typeface="+mn-cs"/>
              </a:rPr>
              <a:t>4 788 €</a:t>
            </a:r>
          </a:p>
        </p:txBody>
      </p:sp>
      <p:sp>
        <p:nvSpPr>
          <p:cNvPr id="132" name="TextBox 131"/>
          <p:cNvSpPr txBox="1"/>
          <p:nvPr/>
        </p:nvSpPr>
        <p:spPr>
          <a:xfrm>
            <a:off x="137160" y="4800600"/>
            <a:ext cx="8686800" cy="17373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50" b="1" i="0" u="none" strike="noStrike" kern="1200" cap="none" spc="0" normalizeH="0" baseline="0" noProof="0">
                <a:ln>
                  <a:noFill/>
                </a:ln>
                <a:solidFill>
                  <a:srgbClr val="00A3E0"/>
                </a:solidFill>
                <a:effectLst/>
                <a:uLnTx/>
                <a:uFillTx/>
                <a:latin typeface="Calibri"/>
                <a:ea typeface="+mn-ea"/>
                <a:cs typeface="+mn-cs"/>
              </a:rPr>
              <a:t>Proposition d'intervention – JuMP, La Junior-Entreprise de MINES ParisTech</a:t>
            </a:r>
          </a:p>
        </p:txBody>
      </p:sp>
      <p:sp>
        <p:nvSpPr>
          <p:cNvPr id="133" name="TextBox 132"/>
          <p:cNvSpPr txBox="1"/>
          <p:nvPr/>
        </p:nvSpPr>
        <p:spPr>
          <a:xfrm>
            <a:off x="137160" y="4974336"/>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Association régie par la loi de 1901, Membre de la Confédération Nationale des Junior-Entreprises</a:t>
            </a:r>
          </a:p>
        </p:txBody>
      </p:sp>
      <p:sp>
        <p:nvSpPr>
          <p:cNvPr id="134" name="TextBox 133"/>
          <p:cNvSpPr txBox="1"/>
          <p:nvPr/>
        </p:nvSpPr>
        <p:spPr>
          <a:xfrm>
            <a:off x="137160" y="5120640"/>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60, boulevard Saint-Michel, 75006 Paris – 01 43 26 79 40 – contact@jump-mines.fr – www.jump-mines.fr</a:t>
            </a:r>
          </a:p>
        </p:txBody>
      </p:sp>
      <p:sp>
        <p:nvSpPr>
          <p:cNvPr id="135" name="TextBox 134"/>
          <p:cNvSpPr txBox="1"/>
          <p:nvPr/>
        </p:nvSpPr>
        <p:spPr>
          <a:xfrm>
            <a:off x="137160" y="5266944"/>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Numéro SIRET : 348 557 786 00012 – Code APE : 9499Z – TVA FR 81 348 557 786</a:t>
            </a:r>
          </a:p>
        </p:txBody>
      </p:sp>
      <p:sp>
        <p:nvSpPr>
          <p:cNvPr id="136" name="TextBox 135"/>
          <p:cNvSpPr txBox="1"/>
          <p:nvPr/>
        </p:nvSpPr>
        <p:spPr>
          <a:xfrm>
            <a:off x="137160" y="5413248"/>
            <a:ext cx="8686800" cy="14630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550" b="0" i="0" u="none" strike="noStrike" kern="1200" cap="none" spc="0" normalizeH="0" baseline="0" noProof="0">
                <a:ln>
                  <a:noFill/>
                </a:ln>
                <a:solidFill>
                  <a:srgbClr val="FFFFFF"/>
                </a:solidFill>
                <a:effectLst/>
                <a:uLnTx/>
                <a:uFillTx/>
                <a:latin typeface="Calibri"/>
                <a:ea typeface="+mn-ea"/>
                <a:cs typeface="+mn-cs"/>
              </a:rPr>
              <a:t>Tous droits de reproduction réservés        Page 10/11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365760" y="137160"/>
            <a:ext cx="8412480" cy="45720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Calendrier Prévisionnel</a:t>
            </a:r>
            <a:endParaRPr lang="en-US" sz="2400" dirty="0"/>
          </a:p>
        </p:txBody>
      </p:sp>
      <p:sp>
        <p:nvSpPr>
          <p:cNvPr id="3" name="Text 1"/>
          <p:cNvSpPr/>
          <p:nvPr/>
        </p:nvSpPr>
        <p:spPr>
          <a:xfrm>
            <a:off x="365760" y="621792"/>
            <a:ext cx="8412480" cy="320040"/>
          </a:xfrm>
          <a:prstGeom prst="rect">
            <a:avLst/>
          </a:prstGeom>
          <a:noFill/>
          <a:ln/>
        </p:spPr>
        <p:txBody>
          <a:bodyPr wrap="square" rtlCol="0" anchor="ctr"/>
          <a:lstStyle/>
          <a:p>
            <a:pPr marL="0" indent="0">
              <a:buNone/>
            </a:pPr>
            <a:r>
              <a:rPr lang="en-US" sz="1100" i="1" dirty="0">
                <a:solidFill>
                  <a:srgbClr val="00A3E0"/>
                </a:solidFill>
                <a:latin typeface="Calibri" pitchFamily="34" charset="0"/>
                <a:ea typeface="Calibri" pitchFamily="34" charset="-122"/>
                <a:cs typeface="Calibri" pitchFamily="34" charset="-120"/>
              </a:rPr>
              <a:t>Mission Phase 1 — Juin à octobre 2026 — 1 intervenant à temps partiel (~2 jours/semaine)</a:t>
            </a:r>
            <a:endParaRPr lang="en-US" sz="1100" dirty="0"/>
          </a:p>
        </p:txBody>
      </p:sp>
      <p:sp>
        <p:nvSpPr>
          <p:cNvPr id="4" name="Text 2"/>
          <p:cNvSpPr/>
          <p:nvPr/>
        </p:nvSpPr>
        <p:spPr>
          <a:xfrm>
            <a:off x="182880" y="1051560"/>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P1.1 – Cadrage &amp; configuration WebVisu</a:t>
            </a:r>
            <a:endParaRPr lang="en-US" sz="850" dirty="0"/>
          </a:p>
        </p:txBody>
      </p:sp>
      <p:sp>
        <p:nvSpPr>
          <p:cNvPr id="5" name="Shape 3"/>
          <p:cNvSpPr/>
          <p:nvPr/>
        </p:nvSpPr>
        <p:spPr>
          <a:xfrm>
            <a:off x="3200400" y="1051560"/>
            <a:ext cx="5577840" cy="292608"/>
          </a:xfrm>
          <a:prstGeom prst="rect">
            <a:avLst/>
          </a:prstGeom>
          <a:solidFill>
            <a:srgbClr val="162035"/>
          </a:solidFill>
          <a:ln w="3810">
            <a:solidFill>
              <a:srgbClr val="2A3F6A"/>
            </a:solidFill>
            <a:prstDash val="solid"/>
          </a:ln>
        </p:spPr>
        <p:txBody>
          <a:bodyPr/>
          <a:lstStyle/>
          <a:p>
            <a:endParaRPr/>
          </a:p>
        </p:txBody>
      </p:sp>
      <p:sp>
        <p:nvSpPr>
          <p:cNvPr id="6" name="Shape 4"/>
          <p:cNvSpPr/>
          <p:nvPr/>
        </p:nvSpPr>
        <p:spPr>
          <a:xfrm>
            <a:off x="3200400" y="1069848"/>
            <a:ext cx="429065" cy="256032"/>
          </a:xfrm>
          <a:prstGeom prst="rect">
            <a:avLst/>
          </a:prstGeom>
          <a:solidFill>
            <a:srgbClr val="1565C0"/>
          </a:solidFill>
          <a:ln w="12700">
            <a:solidFill>
              <a:srgbClr val="1565C0"/>
            </a:solidFill>
            <a:prstDash val="solid"/>
          </a:ln>
        </p:spPr>
        <p:txBody>
          <a:bodyPr/>
          <a:lstStyle/>
          <a:p>
            <a:endParaRPr/>
          </a:p>
        </p:txBody>
      </p:sp>
      <p:sp>
        <p:nvSpPr>
          <p:cNvPr id="7" name="Text 5"/>
          <p:cNvSpPr/>
          <p:nvPr/>
        </p:nvSpPr>
        <p:spPr>
          <a:xfrm>
            <a:off x="182880" y="1399032"/>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P1.2 – Couche de données &amp; connexion</a:t>
            </a:r>
            <a:endParaRPr lang="en-US" sz="850" dirty="0"/>
          </a:p>
        </p:txBody>
      </p:sp>
      <p:sp>
        <p:nvSpPr>
          <p:cNvPr id="8" name="Shape 6"/>
          <p:cNvSpPr/>
          <p:nvPr/>
        </p:nvSpPr>
        <p:spPr>
          <a:xfrm>
            <a:off x="3200400" y="1399032"/>
            <a:ext cx="5577840" cy="292608"/>
          </a:xfrm>
          <a:prstGeom prst="rect">
            <a:avLst/>
          </a:prstGeom>
          <a:solidFill>
            <a:srgbClr val="162035"/>
          </a:solidFill>
          <a:ln w="3810">
            <a:solidFill>
              <a:srgbClr val="2A3F6A"/>
            </a:solidFill>
            <a:prstDash val="solid"/>
          </a:ln>
        </p:spPr>
        <p:txBody>
          <a:bodyPr/>
          <a:lstStyle/>
          <a:p>
            <a:endParaRPr/>
          </a:p>
        </p:txBody>
      </p:sp>
      <p:sp>
        <p:nvSpPr>
          <p:cNvPr id="9" name="Shape 7"/>
          <p:cNvSpPr/>
          <p:nvPr/>
        </p:nvSpPr>
        <p:spPr>
          <a:xfrm>
            <a:off x="3629465" y="1417320"/>
            <a:ext cx="643597" cy="256032"/>
          </a:xfrm>
          <a:prstGeom prst="rect">
            <a:avLst/>
          </a:prstGeom>
          <a:solidFill>
            <a:srgbClr val="1565C0"/>
          </a:solidFill>
          <a:ln w="12700">
            <a:solidFill>
              <a:srgbClr val="1565C0"/>
            </a:solidFill>
            <a:prstDash val="solid"/>
          </a:ln>
        </p:spPr>
        <p:txBody>
          <a:bodyPr/>
          <a:lstStyle/>
          <a:p>
            <a:endParaRPr/>
          </a:p>
        </p:txBody>
      </p:sp>
      <p:sp>
        <p:nvSpPr>
          <p:cNvPr id="10" name="Text 8"/>
          <p:cNvSpPr/>
          <p:nvPr/>
        </p:nvSpPr>
        <p:spPr>
          <a:xfrm>
            <a:off x="182880" y="-9999999"/>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P1.3 – Tableau de bord (MVP)</a:t>
            </a:r>
            <a:endParaRPr lang="en-US" sz="850" dirty="0"/>
          </a:p>
        </p:txBody>
      </p:sp>
      <p:sp>
        <p:nvSpPr>
          <p:cNvPr id="11" name="Shape 9"/>
          <p:cNvSpPr/>
          <p:nvPr/>
        </p:nvSpPr>
        <p:spPr>
          <a:xfrm>
            <a:off x="3200400" y="-9999999"/>
            <a:ext cx="5577840" cy="292608"/>
          </a:xfrm>
          <a:prstGeom prst="rect">
            <a:avLst/>
          </a:prstGeom>
          <a:solidFill>
            <a:srgbClr val="162035"/>
          </a:solidFill>
          <a:ln w="3810">
            <a:solidFill>
              <a:srgbClr val="2A3F6A"/>
            </a:solidFill>
            <a:prstDash val="solid"/>
          </a:ln>
        </p:spPr>
        <p:txBody>
          <a:bodyPr/>
          <a:lstStyle/>
          <a:p>
            <a:endParaRPr/>
          </a:p>
        </p:txBody>
      </p:sp>
      <p:sp>
        <p:nvSpPr>
          <p:cNvPr id="12" name="Shape 10"/>
          <p:cNvSpPr/>
          <p:nvPr/>
        </p:nvSpPr>
        <p:spPr>
          <a:xfrm>
            <a:off x="4273062" y="-9999999"/>
            <a:ext cx="429065" cy="256032"/>
          </a:xfrm>
          <a:prstGeom prst="rect">
            <a:avLst/>
          </a:prstGeom>
          <a:solidFill>
            <a:srgbClr val="1565C0"/>
          </a:solidFill>
          <a:ln w="12700">
            <a:solidFill>
              <a:srgbClr val="1565C0"/>
            </a:solidFill>
            <a:prstDash val="solid"/>
          </a:ln>
        </p:spPr>
        <p:txBody>
          <a:bodyPr/>
          <a:lstStyle/>
          <a:p>
            <a:endParaRPr/>
          </a:p>
        </p:txBody>
      </p:sp>
      <p:sp>
        <p:nvSpPr>
          <p:cNvPr id="13" name="Text 11"/>
          <p:cNvSpPr/>
          <p:nvPr/>
        </p:nvSpPr>
        <p:spPr>
          <a:xfrm>
            <a:off x="182880" y="2093976"/>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P1.4 – Pilotage &amp; app mobile</a:t>
            </a:r>
            <a:endParaRPr lang="en-US" sz="850" dirty="0"/>
          </a:p>
        </p:txBody>
      </p:sp>
      <p:sp>
        <p:nvSpPr>
          <p:cNvPr id="14" name="Shape 12"/>
          <p:cNvSpPr/>
          <p:nvPr/>
        </p:nvSpPr>
        <p:spPr>
          <a:xfrm>
            <a:off x="3200400" y="2093976"/>
            <a:ext cx="5577840" cy="292608"/>
          </a:xfrm>
          <a:prstGeom prst="rect">
            <a:avLst/>
          </a:prstGeom>
          <a:solidFill>
            <a:srgbClr val="162035"/>
          </a:solidFill>
          <a:ln w="3810">
            <a:solidFill>
              <a:srgbClr val="2A3F6A"/>
            </a:solidFill>
            <a:prstDash val="solid"/>
          </a:ln>
        </p:spPr>
        <p:txBody>
          <a:bodyPr/>
          <a:lstStyle/>
          <a:p>
            <a:endParaRPr/>
          </a:p>
        </p:txBody>
      </p:sp>
      <p:sp>
        <p:nvSpPr>
          <p:cNvPr id="15" name="Shape 13"/>
          <p:cNvSpPr/>
          <p:nvPr/>
        </p:nvSpPr>
        <p:spPr>
          <a:xfrm>
            <a:off x="4702126" y="2112264"/>
            <a:ext cx="643597" cy="256032"/>
          </a:xfrm>
          <a:prstGeom prst="rect">
            <a:avLst/>
          </a:prstGeom>
          <a:solidFill>
            <a:srgbClr val="1565C0"/>
          </a:solidFill>
          <a:ln w="12700">
            <a:solidFill>
              <a:srgbClr val="1565C0"/>
            </a:solidFill>
            <a:prstDash val="solid"/>
          </a:ln>
        </p:spPr>
        <p:txBody>
          <a:bodyPr/>
          <a:lstStyle/>
          <a:p>
            <a:endParaRPr/>
          </a:p>
        </p:txBody>
      </p:sp>
      <p:sp>
        <p:nvSpPr>
          <p:cNvPr id="16" name="Text 14"/>
          <p:cNvSpPr/>
          <p:nvPr/>
        </p:nvSpPr>
        <p:spPr>
          <a:xfrm>
            <a:off x="182880" y="2441448"/>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P1.5 – Tests &amp; déploiement</a:t>
            </a:r>
            <a:endParaRPr lang="en-US" sz="850" dirty="0"/>
          </a:p>
        </p:txBody>
      </p:sp>
      <p:sp>
        <p:nvSpPr>
          <p:cNvPr id="17" name="Shape 15"/>
          <p:cNvSpPr/>
          <p:nvPr/>
        </p:nvSpPr>
        <p:spPr>
          <a:xfrm>
            <a:off x="3200400" y="2441448"/>
            <a:ext cx="5577840" cy="292608"/>
          </a:xfrm>
          <a:prstGeom prst="rect">
            <a:avLst/>
          </a:prstGeom>
          <a:solidFill>
            <a:srgbClr val="162035"/>
          </a:solidFill>
          <a:ln w="3810">
            <a:solidFill>
              <a:srgbClr val="2A3F6A"/>
            </a:solidFill>
            <a:prstDash val="solid"/>
          </a:ln>
        </p:spPr>
        <p:txBody>
          <a:bodyPr/>
          <a:lstStyle/>
          <a:p>
            <a:endParaRPr/>
          </a:p>
        </p:txBody>
      </p:sp>
      <p:sp>
        <p:nvSpPr>
          <p:cNvPr id="18" name="Shape 16"/>
          <p:cNvSpPr/>
          <p:nvPr/>
        </p:nvSpPr>
        <p:spPr>
          <a:xfrm>
            <a:off x="5345723" y="2459736"/>
            <a:ext cx="429065" cy="256032"/>
          </a:xfrm>
          <a:prstGeom prst="rect">
            <a:avLst/>
          </a:prstGeom>
          <a:solidFill>
            <a:srgbClr val="1565C0"/>
          </a:solidFill>
          <a:ln w="12700">
            <a:solidFill>
              <a:srgbClr val="1565C0"/>
            </a:solidFill>
            <a:prstDash val="solid"/>
          </a:ln>
        </p:spPr>
        <p:txBody>
          <a:bodyPr/>
          <a:lstStyle/>
          <a:p>
            <a:endParaRPr/>
          </a:p>
        </p:txBody>
      </p:sp>
      <p:sp>
        <p:nvSpPr>
          <p:cNvPr id="19" name="Text 17"/>
          <p:cNvSpPr/>
          <p:nvPr/>
        </p:nvSpPr>
        <p:spPr>
          <a:xfrm>
            <a:off x="182880" y="-9999999"/>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P2.1 – Analyse Marché &amp; Personas</a:t>
            </a:r>
            <a:endParaRPr lang="en-US" sz="850" dirty="0"/>
          </a:p>
        </p:txBody>
      </p:sp>
      <p:sp>
        <p:nvSpPr>
          <p:cNvPr id="20" name="Shape 18"/>
          <p:cNvSpPr/>
          <p:nvPr/>
        </p:nvSpPr>
        <p:spPr>
          <a:xfrm>
            <a:off x="3200400" y="-9999999"/>
            <a:ext cx="5577840" cy="292608"/>
          </a:xfrm>
          <a:prstGeom prst="rect">
            <a:avLst/>
          </a:prstGeom>
          <a:solidFill>
            <a:srgbClr val="162035"/>
          </a:solidFill>
          <a:ln w="3810">
            <a:solidFill>
              <a:srgbClr val="2A3F6A"/>
            </a:solidFill>
            <a:prstDash val="solid"/>
          </a:ln>
        </p:spPr>
        <p:txBody>
          <a:bodyPr/>
          <a:lstStyle/>
          <a:p>
            <a:endParaRPr/>
          </a:p>
        </p:txBody>
      </p:sp>
      <p:sp>
        <p:nvSpPr>
          <p:cNvPr id="21" name="Shape 19"/>
          <p:cNvSpPr/>
          <p:nvPr/>
        </p:nvSpPr>
        <p:spPr>
          <a:xfrm>
            <a:off x="5774788" y="-9999999"/>
            <a:ext cx="643597" cy="256032"/>
          </a:xfrm>
          <a:prstGeom prst="rect">
            <a:avLst/>
          </a:prstGeom>
          <a:solidFill>
            <a:srgbClr val="2E7D32"/>
          </a:solidFill>
          <a:ln w="12700">
            <a:solidFill>
              <a:srgbClr val="2E7D32"/>
            </a:solidFill>
            <a:prstDash val="solid"/>
          </a:ln>
        </p:spPr>
        <p:txBody>
          <a:bodyPr/>
          <a:lstStyle/>
          <a:p>
            <a:endParaRPr/>
          </a:p>
        </p:txBody>
      </p:sp>
      <p:sp>
        <p:nvSpPr>
          <p:cNvPr id="22" name="Text 20"/>
          <p:cNvSpPr/>
          <p:nvPr/>
        </p:nvSpPr>
        <p:spPr>
          <a:xfrm>
            <a:off x="182880" y="-9999999"/>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P2.2 – Structuration de l'Offre</a:t>
            </a:r>
            <a:endParaRPr lang="en-US" sz="850" dirty="0"/>
          </a:p>
        </p:txBody>
      </p:sp>
      <p:sp>
        <p:nvSpPr>
          <p:cNvPr id="23" name="Shape 21"/>
          <p:cNvSpPr/>
          <p:nvPr/>
        </p:nvSpPr>
        <p:spPr>
          <a:xfrm>
            <a:off x="3200400" y="-9999999"/>
            <a:ext cx="5577840" cy="292608"/>
          </a:xfrm>
          <a:prstGeom prst="rect">
            <a:avLst/>
          </a:prstGeom>
          <a:solidFill>
            <a:srgbClr val="162035"/>
          </a:solidFill>
          <a:ln w="3810">
            <a:solidFill>
              <a:srgbClr val="2A3F6A"/>
            </a:solidFill>
            <a:prstDash val="solid"/>
          </a:ln>
        </p:spPr>
        <p:txBody>
          <a:bodyPr/>
          <a:lstStyle/>
          <a:p>
            <a:endParaRPr/>
          </a:p>
        </p:txBody>
      </p:sp>
      <p:sp>
        <p:nvSpPr>
          <p:cNvPr id="24" name="Shape 22"/>
          <p:cNvSpPr/>
          <p:nvPr/>
        </p:nvSpPr>
        <p:spPr>
          <a:xfrm>
            <a:off x="6418385" y="-9999999"/>
            <a:ext cx="429065" cy="256032"/>
          </a:xfrm>
          <a:prstGeom prst="rect">
            <a:avLst/>
          </a:prstGeom>
          <a:solidFill>
            <a:srgbClr val="2E7D32"/>
          </a:solidFill>
          <a:ln w="12700">
            <a:solidFill>
              <a:srgbClr val="2E7D32"/>
            </a:solidFill>
            <a:prstDash val="solid"/>
          </a:ln>
        </p:spPr>
        <p:txBody>
          <a:bodyPr/>
          <a:lstStyle/>
          <a:p>
            <a:endParaRPr/>
          </a:p>
        </p:txBody>
      </p:sp>
      <p:sp>
        <p:nvSpPr>
          <p:cNvPr id="25" name="Text 23"/>
          <p:cNvSpPr/>
          <p:nvPr/>
        </p:nvSpPr>
        <p:spPr>
          <a:xfrm>
            <a:off x="182880" y="-9999999"/>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P2.3 – Identité Visuelle</a:t>
            </a:r>
            <a:endParaRPr lang="en-US" sz="850" dirty="0"/>
          </a:p>
        </p:txBody>
      </p:sp>
      <p:sp>
        <p:nvSpPr>
          <p:cNvPr id="26" name="Shape 24"/>
          <p:cNvSpPr/>
          <p:nvPr/>
        </p:nvSpPr>
        <p:spPr>
          <a:xfrm>
            <a:off x="3200400" y="-9999999"/>
            <a:ext cx="5577840" cy="292608"/>
          </a:xfrm>
          <a:prstGeom prst="rect">
            <a:avLst/>
          </a:prstGeom>
          <a:solidFill>
            <a:srgbClr val="162035"/>
          </a:solidFill>
          <a:ln w="3810">
            <a:solidFill>
              <a:srgbClr val="2A3F6A"/>
            </a:solidFill>
            <a:prstDash val="solid"/>
          </a:ln>
        </p:spPr>
        <p:txBody>
          <a:bodyPr/>
          <a:lstStyle/>
          <a:p>
            <a:endParaRPr/>
          </a:p>
        </p:txBody>
      </p:sp>
      <p:sp>
        <p:nvSpPr>
          <p:cNvPr id="27" name="Shape 25"/>
          <p:cNvSpPr/>
          <p:nvPr/>
        </p:nvSpPr>
        <p:spPr>
          <a:xfrm>
            <a:off x="6847449" y="-9999999"/>
            <a:ext cx="643597" cy="256032"/>
          </a:xfrm>
          <a:prstGeom prst="rect">
            <a:avLst/>
          </a:prstGeom>
          <a:solidFill>
            <a:srgbClr val="2E7D32"/>
          </a:solidFill>
          <a:ln w="12700">
            <a:solidFill>
              <a:srgbClr val="2E7D32"/>
            </a:solidFill>
            <a:prstDash val="solid"/>
          </a:ln>
        </p:spPr>
        <p:txBody>
          <a:bodyPr/>
          <a:lstStyle/>
          <a:p>
            <a:endParaRPr/>
          </a:p>
        </p:txBody>
      </p:sp>
      <p:sp>
        <p:nvSpPr>
          <p:cNvPr id="28" name="Text 26"/>
          <p:cNvSpPr/>
          <p:nvPr/>
        </p:nvSpPr>
        <p:spPr>
          <a:xfrm>
            <a:off x="182880" y="-9999999"/>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P2.4 – Site Vitrine &amp; Contenu</a:t>
            </a:r>
            <a:endParaRPr lang="en-US" sz="850" dirty="0"/>
          </a:p>
        </p:txBody>
      </p:sp>
      <p:sp>
        <p:nvSpPr>
          <p:cNvPr id="29" name="Shape 27"/>
          <p:cNvSpPr/>
          <p:nvPr/>
        </p:nvSpPr>
        <p:spPr>
          <a:xfrm>
            <a:off x="3200400" y="-9999999"/>
            <a:ext cx="5577840" cy="292608"/>
          </a:xfrm>
          <a:prstGeom prst="rect">
            <a:avLst/>
          </a:prstGeom>
          <a:solidFill>
            <a:srgbClr val="162035"/>
          </a:solidFill>
          <a:ln w="3810">
            <a:solidFill>
              <a:srgbClr val="2A3F6A"/>
            </a:solidFill>
            <a:prstDash val="solid"/>
          </a:ln>
        </p:spPr>
        <p:txBody>
          <a:bodyPr/>
          <a:lstStyle/>
          <a:p>
            <a:endParaRPr/>
          </a:p>
        </p:txBody>
      </p:sp>
      <p:sp>
        <p:nvSpPr>
          <p:cNvPr id="30" name="Shape 28"/>
          <p:cNvSpPr/>
          <p:nvPr/>
        </p:nvSpPr>
        <p:spPr>
          <a:xfrm>
            <a:off x="7491046" y="-9999999"/>
            <a:ext cx="858129" cy="256032"/>
          </a:xfrm>
          <a:prstGeom prst="rect">
            <a:avLst/>
          </a:prstGeom>
          <a:solidFill>
            <a:srgbClr val="2E7D32"/>
          </a:solidFill>
          <a:ln w="12700">
            <a:solidFill>
              <a:srgbClr val="2E7D32"/>
            </a:solidFill>
            <a:prstDash val="solid"/>
          </a:ln>
        </p:spPr>
        <p:txBody>
          <a:bodyPr/>
          <a:lstStyle/>
          <a:p>
            <a:endParaRPr/>
          </a:p>
        </p:txBody>
      </p:sp>
      <p:sp>
        <p:nvSpPr>
          <p:cNvPr id="31" name="Text 29"/>
          <p:cNvSpPr/>
          <p:nvPr/>
        </p:nvSpPr>
        <p:spPr>
          <a:xfrm>
            <a:off x="182880" y="-9999999"/>
            <a:ext cx="2926080" cy="292608"/>
          </a:xfrm>
          <a:prstGeom prst="rect">
            <a:avLst/>
          </a:prstGeom>
          <a:noFill/>
          <a:ln/>
        </p:spPr>
        <p:txBody>
          <a:bodyPr wrap="square" lIns="0" tIns="0" rIns="0" bIns="0" rtlCol="0" anchor="ctr"/>
          <a:lstStyle/>
          <a:p>
            <a:pPr marL="0" indent="0">
              <a:buNone/>
            </a:pPr>
            <a:r>
              <a:rPr lang="en-US" sz="850" dirty="0">
                <a:solidFill>
                  <a:srgbClr val="FFFFFF"/>
                </a:solidFill>
                <a:latin typeface="Calibri" pitchFamily="34" charset="0"/>
                <a:ea typeface="Calibri" pitchFamily="34" charset="-122"/>
                <a:cs typeface="Calibri" pitchFamily="34" charset="-120"/>
              </a:rPr>
              <a:t>P2.5 – Kit de Vente &amp; Lancement</a:t>
            </a:r>
            <a:endParaRPr lang="en-US" sz="850" dirty="0"/>
          </a:p>
        </p:txBody>
      </p:sp>
      <p:sp>
        <p:nvSpPr>
          <p:cNvPr id="32" name="Shape 30"/>
          <p:cNvSpPr/>
          <p:nvPr/>
        </p:nvSpPr>
        <p:spPr>
          <a:xfrm>
            <a:off x="3200400" y="-9999999"/>
            <a:ext cx="5577840" cy="292608"/>
          </a:xfrm>
          <a:prstGeom prst="rect">
            <a:avLst/>
          </a:prstGeom>
          <a:solidFill>
            <a:srgbClr val="162035"/>
          </a:solidFill>
          <a:ln w="3810">
            <a:solidFill>
              <a:srgbClr val="2A3F6A"/>
            </a:solidFill>
            <a:prstDash val="solid"/>
          </a:ln>
        </p:spPr>
        <p:txBody>
          <a:bodyPr/>
          <a:lstStyle/>
          <a:p>
            <a:endParaRPr/>
          </a:p>
        </p:txBody>
      </p:sp>
      <p:sp>
        <p:nvSpPr>
          <p:cNvPr id="33" name="Shape 31"/>
          <p:cNvSpPr/>
          <p:nvPr/>
        </p:nvSpPr>
        <p:spPr>
          <a:xfrm>
            <a:off x="8349175" y="-9999999"/>
            <a:ext cx="429065" cy="256032"/>
          </a:xfrm>
          <a:prstGeom prst="rect">
            <a:avLst/>
          </a:prstGeom>
          <a:solidFill>
            <a:srgbClr val="2E7D32"/>
          </a:solidFill>
          <a:ln w="12700">
            <a:solidFill>
              <a:srgbClr val="2E7D32"/>
            </a:solidFill>
            <a:prstDash val="solid"/>
          </a:ln>
        </p:spPr>
        <p:txBody>
          <a:bodyPr/>
          <a:lstStyle/>
          <a:p>
            <a:endParaRPr/>
          </a:p>
        </p:txBody>
      </p:sp>
      <p:sp>
        <p:nvSpPr>
          <p:cNvPr id="34" name="Text 32"/>
          <p:cNvSpPr/>
          <p:nvPr/>
        </p:nvSpPr>
        <p:spPr>
          <a:xfrm>
            <a:off x="320040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Juin</a:t>
            </a:r>
            <a:endParaRPr lang="en-US" sz="800" dirty="0"/>
          </a:p>
        </p:txBody>
      </p:sp>
      <p:sp>
        <p:nvSpPr>
          <p:cNvPr id="35" name="Text 33"/>
          <p:cNvSpPr/>
          <p:nvPr/>
        </p:nvSpPr>
        <p:spPr>
          <a:xfrm>
            <a:off x="413004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Juillet</a:t>
            </a:r>
            <a:endParaRPr lang="en-US" sz="800" dirty="0"/>
          </a:p>
        </p:txBody>
      </p:sp>
      <p:sp>
        <p:nvSpPr>
          <p:cNvPr id="36" name="Text 34"/>
          <p:cNvSpPr/>
          <p:nvPr/>
        </p:nvSpPr>
        <p:spPr>
          <a:xfrm>
            <a:off x="505968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Août</a:t>
            </a:r>
            <a:endParaRPr lang="en-US" sz="800" dirty="0"/>
          </a:p>
        </p:txBody>
      </p:sp>
      <p:sp>
        <p:nvSpPr>
          <p:cNvPr id="37" name="Text 35"/>
          <p:cNvSpPr/>
          <p:nvPr/>
        </p:nvSpPr>
        <p:spPr>
          <a:xfrm>
            <a:off x="598932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Sept.</a:t>
            </a:r>
            <a:endParaRPr lang="en-US" sz="800" dirty="0"/>
          </a:p>
        </p:txBody>
      </p:sp>
      <p:sp>
        <p:nvSpPr>
          <p:cNvPr id="38" name="Text 36"/>
          <p:cNvSpPr/>
          <p:nvPr/>
        </p:nvSpPr>
        <p:spPr>
          <a:xfrm>
            <a:off x="6918960" y="777240"/>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Oct.</a:t>
            </a:r>
            <a:endParaRPr lang="en-US" sz="800" dirty="0"/>
          </a:p>
        </p:txBody>
      </p:sp>
      <p:sp>
        <p:nvSpPr>
          <p:cNvPr id="39" name="Text 37"/>
          <p:cNvSpPr/>
          <p:nvPr/>
        </p:nvSpPr>
        <p:spPr>
          <a:xfrm>
            <a:off x="7848600" y="-9999999"/>
            <a:ext cx="929640" cy="228600"/>
          </a:xfrm>
          <a:prstGeom prst="rect">
            <a:avLst/>
          </a:prstGeom>
          <a:noFill/>
          <a:ln/>
        </p:spPr>
        <p:txBody>
          <a:bodyPr wrap="square" rtlCol="0" anchor="ctr"/>
          <a:lstStyle/>
          <a:p>
            <a:pPr marL="0" indent="0" algn="ctr">
              <a:buNone/>
            </a:pPr>
            <a:r>
              <a:rPr lang="en-US" sz="800" dirty="0">
                <a:solidFill>
                  <a:srgbClr val="00A3E0"/>
                </a:solidFill>
                <a:latin typeface="Calibri" pitchFamily="34" charset="0"/>
                <a:ea typeface="Calibri" pitchFamily="34" charset="-122"/>
                <a:cs typeface="Calibri" pitchFamily="34" charset="-120"/>
              </a:rPr>
              <a:t>Nov.</a:t>
            </a:r>
            <a:endParaRPr lang="en-US" sz="800" dirty="0"/>
          </a:p>
        </p:txBody>
      </p:sp>
      <p:sp>
        <p:nvSpPr>
          <p:cNvPr id="40" name="Shape 38"/>
          <p:cNvSpPr/>
          <p:nvPr/>
        </p:nvSpPr>
        <p:spPr>
          <a:xfrm>
            <a:off x="3657600" y="4572000"/>
            <a:ext cx="228600" cy="164592"/>
          </a:xfrm>
          <a:prstGeom prst="rect">
            <a:avLst/>
          </a:prstGeom>
          <a:solidFill>
            <a:srgbClr val="1565C0"/>
          </a:solidFill>
          <a:ln w="12700">
            <a:solidFill>
              <a:srgbClr val="1565C0"/>
            </a:solidFill>
            <a:prstDash val="solid"/>
          </a:ln>
        </p:spPr>
        <p:txBody>
          <a:bodyPr/>
          <a:lstStyle/>
          <a:p>
            <a:endParaRPr/>
          </a:p>
        </p:txBody>
      </p:sp>
      <p:sp>
        <p:nvSpPr>
          <p:cNvPr id="41" name="Text 39"/>
          <p:cNvSpPr/>
          <p:nvPr/>
        </p:nvSpPr>
        <p:spPr>
          <a:xfrm>
            <a:off x="3931920" y="4572000"/>
            <a:ext cx="1828800" cy="16459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Partie 1 – Application</a:t>
            </a:r>
            <a:endParaRPr lang="en-US" sz="850" dirty="0"/>
          </a:p>
        </p:txBody>
      </p:sp>
      <p:sp>
        <p:nvSpPr>
          <p:cNvPr id="42" name="Shape 40"/>
          <p:cNvSpPr/>
          <p:nvPr/>
        </p:nvSpPr>
        <p:spPr>
          <a:xfrm>
            <a:off x="5943600" y="-9999999"/>
            <a:ext cx="228600" cy="164592"/>
          </a:xfrm>
          <a:prstGeom prst="rect">
            <a:avLst/>
          </a:prstGeom>
          <a:solidFill>
            <a:srgbClr val="2E7D32"/>
          </a:solidFill>
          <a:ln w="12700">
            <a:solidFill>
              <a:srgbClr val="2E7D32"/>
            </a:solidFill>
            <a:prstDash val="solid"/>
          </a:ln>
        </p:spPr>
        <p:txBody>
          <a:bodyPr/>
          <a:lstStyle/>
          <a:p>
            <a:endParaRPr/>
          </a:p>
        </p:txBody>
      </p:sp>
      <p:sp>
        <p:nvSpPr>
          <p:cNvPr id="43" name="Text 41"/>
          <p:cNvSpPr/>
          <p:nvPr/>
        </p:nvSpPr>
        <p:spPr>
          <a:xfrm>
            <a:off x="6217920" y="-9999999"/>
            <a:ext cx="1828800" cy="16459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Partie 2 – Commerciale</a:t>
            </a:r>
            <a:endParaRPr lang="en-US" sz="850" dirty="0"/>
          </a:p>
        </p:txBody>
      </p:sp>
      <p:sp>
        <p:nvSpPr>
          <p:cNvPr id="44" name="Text 42"/>
          <p:cNvSpPr/>
          <p:nvPr/>
        </p:nvSpPr>
        <p:spPr>
          <a:xfrm>
            <a:off x="137160" y="4800600"/>
            <a:ext cx="8686800" cy="164592"/>
          </a:xfrm>
          <a:prstGeom prst="rect">
            <a:avLst/>
          </a:prstGeom>
          <a:noFill/>
          <a:ln/>
        </p:spPr>
        <p:txBody>
          <a:bodyPr wrap="square" rtlCol="0" anchor="ctr"/>
          <a:lstStyle/>
          <a:p>
            <a:pPr marL="0" indent="0" algn="ctr">
              <a:buNone/>
            </a:pPr>
            <a:r>
              <a:rPr lang="en-US" sz="650" b="1" dirty="0">
                <a:solidFill>
                  <a:srgbClr val="00A3E0"/>
                </a:solidFill>
              </a:rPr>
              <a:t>Proposition d'intervention – JuMP, La Junior-Entreprise de MINES ParisTech</a:t>
            </a:r>
            <a:endParaRPr lang="en-US" sz="650" dirty="0"/>
          </a:p>
        </p:txBody>
      </p:sp>
      <p:sp>
        <p:nvSpPr>
          <p:cNvPr id="45" name="Text 43"/>
          <p:cNvSpPr/>
          <p:nvPr/>
        </p:nvSpPr>
        <p:spPr>
          <a:xfrm>
            <a:off x="137160" y="4965192"/>
            <a:ext cx="8686800" cy="137160"/>
          </a:xfrm>
          <a:prstGeom prst="rect">
            <a:avLst/>
          </a:prstGeom>
          <a:noFill/>
          <a:ln/>
        </p:spPr>
        <p:txBody>
          <a:bodyPr wrap="square" rtlCol="0" anchor="ctr"/>
          <a:lstStyle/>
          <a:p>
            <a:pPr marL="0" indent="0" algn="ctr">
              <a:buNone/>
            </a:pPr>
            <a:r>
              <a:rPr lang="en-US" sz="550" dirty="0">
                <a:solidFill>
                  <a:srgbClr val="FFFFFF"/>
                </a:solidFill>
              </a:rPr>
              <a:t>Association régie par la loi de 1901, Membre de la Confédération Nationale des Junior-Entreprises</a:t>
            </a:r>
            <a:endParaRPr lang="en-US" sz="550" dirty="0"/>
          </a:p>
        </p:txBody>
      </p:sp>
      <p:sp>
        <p:nvSpPr>
          <p:cNvPr id="46" name="Text 44"/>
          <p:cNvSpPr/>
          <p:nvPr/>
        </p:nvSpPr>
        <p:spPr>
          <a:xfrm>
            <a:off x="137160" y="5102352"/>
            <a:ext cx="8686800" cy="137160"/>
          </a:xfrm>
          <a:prstGeom prst="rect">
            <a:avLst/>
          </a:prstGeom>
          <a:noFill/>
          <a:ln/>
        </p:spPr>
        <p:txBody>
          <a:bodyPr wrap="square" rtlCol="0" anchor="ctr"/>
          <a:lstStyle/>
          <a:p>
            <a:pPr marL="0" indent="0" algn="ctr">
              <a:buNone/>
            </a:pPr>
            <a:r>
              <a:rPr lang="en-US" sz="550" dirty="0">
                <a:solidFill>
                  <a:srgbClr val="FFFFFF"/>
                </a:solidFill>
              </a:rPr>
              <a:t>60, boulevard Saint-Michel, 75006 Paris – 01 43 26 79 40 – contact@jump-mines.fr – www.jump-mines.fr</a:t>
            </a:r>
            <a:endParaRPr lang="en-US" sz="550" dirty="0"/>
          </a:p>
        </p:txBody>
      </p:sp>
      <p:sp>
        <p:nvSpPr>
          <p:cNvPr id="47" name="Text 45"/>
          <p:cNvSpPr/>
          <p:nvPr/>
        </p:nvSpPr>
        <p:spPr>
          <a:xfrm>
            <a:off x="137160" y="5239512"/>
            <a:ext cx="8686800" cy="137160"/>
          </a:xfrm>
          <a:prstGeom prst="rect">
            <a:avLst/>
          </a:prstGeom>
          <a:noFill/>
          <a:ln/>
        </p:spPr>
        <p:txBody>
          <a:bodyPr wrap="square" rtlCol="0" anchor="ctr"/>
          <a:lstStyle/>
          <a:p>
            <a:pPr marL="0" indent="0" algn="ctr">
              <a:buNone/>
            </a:pPr>
            <a:r>
              <a:rPr lang="en-US" sz="550" dirty="0">
                <a:solidFill>
                  <a:srgbClr val="FFFFFF"/>
                </a:solidFill>
              </a:rPr>
              <a:t>Numéro SIRET : 348 557 786 00012 – Code APE : 9499Z – TVA FR 81 348 557 786</a:t>
            </a:r>
            <a:endParaRPr lang="en-US" sz="550" dirty="0"/>
          </a:p>
        </p:txBody>
      </p:sp>
      <p:sp>
        <p:nvSpPr>
          <p:cNvPr id="48" name="Text 46"/>
          <p:cNvSpPr/>
          <p:nvPr/>
        </p:nvSpPr>
        <p:spPr>
          <a:xfrm>
            <a:off x="137160" y="5376672"/>
            <a:ext cx="8686800" cy="137160"/>
          </a:xfrm>
          <a:prstGeom prst="rect">
            <a:avLst/>
          </a:prstGeom>
          <a:noFill/>
          <a:ln/>
        </p:spPr>
        <p:txBody>
          <a:bodyPr wrap="square" rtlCol="0" anchor="ctr"/>
          <a:lstStyle/>
          <a:p>
            <a:pPr marL="0" indent="0" algn="ctr">
              <a:buNone/>
            </a:pPr>
            <a:r>
              <a:rPr lang="en-US" sz="550" dirty="0">
                <a:solidFill>
                  <a:srgbClr val="FFFFFF"/>
                </a:solidFill>
              </a:rPr>
              <a:t>Tous droits de reproduction réservés        Page 11/11</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1784</Words>
  <Application>Microsoft Office PowerPoint</Application>
  <PresentationFormat>Affichage à l'écran (16:9)</PresentationFormat>
  <Paragraphs>264</Paragraphs>
  <Slides>11</Slides>
  <Notes>11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d'Intervention – Off-the-Grid</dc:title>
  <dc:subject>PptxGenJS Presentation</dc:subject>
  <dc:creator>PptxGenJS</dc:creator>
  <cp:lastModifiedBy>Antoine BOSSIN</cp:lastModifiedBy>
  <cp:revision>3</cp:revision>
  <dcterms:created xsi:type="dcterms:W3CDTF">2026-05-13T08:04:21Z</dcterms:created>
  <dcterms:modified xsi:type="dcterms:W3CDTF">2026-06-03T04:09:02Z</dcterms:modified>
</cp:coreProperties>
</file>